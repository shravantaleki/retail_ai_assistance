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media/image7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7559675" cy="10691813"/>
  <p:embeddedFontLst>
    <p:embeddedFont>
      <p:font typeface="Calibri (MS)"/>
      <p:regular r:id="rId10"/>
    </p:embeddedFont>
    <p:embeddedFont>
      <p:font typeface="Arial Bold"/>
    </p:embeddedFont>
    <p:embeddedFont>
      <p:font typeface="Arimo"/>
      <p:regular r:id="rId11"/>
    </p:embeddedFont>
    <p:embeddedFont>
      <p:font typeface="Calibri (MS)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_1_Calibri_(MS)_Regular.fntdata"/><Relationship Id="rId11" Type="http://schemas.openxmlformats.org/officeDocument/2006/relationships/font" Target="fonts/Font_2_Arimo_Regular.fntdata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DC9A9C-5F2E-4093-BC7B-BB6E69B664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D351BA-DB0A-4378-9560-ABF14136D6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7C42B4-520F-421E-A23F-7FD0492E96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CC56E-CD7E-40A1-B307-57285B53E2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86FE1C-C8D4-4700-8150-BEB6955A23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DC2C1C-22D5-4CE7-9FB8-5715039F0A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CE017-4599-47DB-83EB-967E9D437D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F91B8-4BA9-4353-AEEB-BE87CC3C0F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E0747-A0D3-4BAC-AB7D-02F4AC719A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9382E-97FA-4522-81F7-7E4E67B28F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9980A6-3130-4DFA-9446-39972D46EA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21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16.png"/><Relationship Id="rId21" Type="http://schemas.openxmlformats.org/officeDocument/2006/relationships/image" Target="../media/image17.png"/><Relationship Id="rId22" Type="http://schemas.openxmlformats.org/officeDocument/2006/relationships/image" Target="../media/image18.png"/><Relationship Id="rId23" Type="http://schemas.openxmlformats.org/officeDocument/2006/relationships/image" Target="../media/image19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16.png"/><Relationship Id="rId27" Type="http://schemas.openxmlformats.org/officeDocument/2006/relationships/image" Target="../media/image17.png"/><Relationship Id="rId28" Type="http://schemas.openxmlformats.org/officeDocument/2006/relationships/image" Target="../media/image18.png"/><Relationship Id="rId29" Type="http://schemas.openxmlformats.org/officeDocument/2006/relationships/image" Target="../media/image19.png"/><Relationship Id="rId30" Type="http://schemas.openxmlformats.org/officeDocument/2006/relationships/image" Target="../media/image27.png"/><Relationship Id="rId31" Type="http://schemas.openxmlformats.org/officeDocument/2006/relationships/image" Target="../media/image28.png"/><Relationship Id="rId32" Type="http://schemas.openxmlformats.org/officeDocument/2006/relationships/image" Target="../media/image16.png"/><Relationship Id="rId33" Type="http://schemas.openxmlformats.org/officeDocument/2006/relationships/image" Target="../media/image17.png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5.png"/><Relationship Id="rId37" Type="http://schemas.openxmlformats.org/officeDocument/2006/relationships/image" Target="../media/image27.png"/><Relationship Id="rId38" Type="http://schemas.openxmlformats.org/officeDocument/2006/relationships/image" Target="../media/image21.png"/><Relationship Id="rId39" Type="http://schemas.openxmlformats.org/officeDocument/2006/relationships/image" Target="../media/image8.png"/><Relationship Id="rId40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-18720" y="3872160"/>
            <a:ext cx="228240" cy="2543040"/>
            <a:chOff x="-18720" y="3872160"/>
            <a:chExt cx="228240" cy="2543040"/>
          </a:xfrm>
        </p:grpSpPr>
        <p:sp>
          <p:nvSpPr>
            <p:cNvPr id="62" name="Freeform 3"/>
            <p:cNvSpPr/>
            <p:nvPr/>
          </p:nvSpPr>
          <p:spPr>
            <a:xfrm rot="10800000">
              <a:off x="-18360" y="3872160"/>
              <a:ext cx="228240" cy="25430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543040"/>
                <a:gd name="textAreaBottom" fmla="*/ 2543400 h 2543040"/>
              </a:gdLst>
              <a:ahLst/>
              <a:cxnLst/>
              <a:rect l="textAreaLeft" t="textAreaTop" r="textAreaRight" b="textAreaBottom"/>
              <a:pathLst>
                <a:path w="304800" h="3391281">
                  <a:moveTo>
                    <a:pt x="304800" y="0"/>
                  </a:moveTo>
                  <a:lnTo>
                    <a:pt x="0" y="0"/>
                  </a:lnTo>
                  <a:lnTo>
                    <a:pt x="0" y="3391281"/>
                  </a:lnTo>
                  <a:lnTo>
                    <a:pt x="304800" y="3391281"/>
                  </a:lnTo>
                  <a:close/>
                </a:path>
              </a:pathLst>
            </a:custGeom>
            <a:gradFill rotWithShape="0">
              <a:gsLst>
                <a:gs pos="0">
                  <a:srgbClr val="FB371E"/>
                </a:gs>
                <a:gs pos="100000">
                  <a:srgbClr val="FB851E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Freeform 4"/>
          <p:cNvSpPr/>
          <p:nvPr/>
        </p:nvSpPr>
        <p:spPr>
          <a:xfrm>
            <a:off x="800280" y="1413000"/>
            <a:ext cx="3871080" cy="756360"/>
          </a:xfrm>
          <a:custGeom>
            <a:avLst/>
            <a:gdLst>
              <a:gd name="textAreaLeft" fmla="*/ 0 w 3871080"/>
              <a:gd name="textAreaRight" fmla="*/ 3871440 w 3871080"/>
              <a:gd name="textAreaTop" fmla="*/ 0 h 756360"/>
              <a:gd name="textAreaBottom" fmla="*/ 756720 h 756360"/>
            </a:gdLst>
            <a:ahLst/>
            <a:cxnLst/>
            <a:rect l="textAreaLeft" t="textAreaTop" r="textAreaRight" b="textAreaBottom"/>
            <a:pathLst>
              <a:path w="3871341" h="756799">
                <a:moveTo>
                  <a:pt x="0" y="0"/>
                </a:moveTo>
                <a:lnTo>
                  <a:pt x="3871341" y="0"/>
                </a:lnTo>
                <a:lnTo>
                  <a:pt x="3871341" y="756799"/>
                </a:lnTo>
                <a:lnTo>
                  <a:pt x="0" y="7567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5"/>
          <p:cNvGrpSpPr/>
          <p:nvPr/>
        </p:nvGrpSpPr>
        <p:grpSpPr>
          <a:xfrm>
            <a:off x="241560" y="9578520"/>
            <a:ext cx="791280" cy="490680"/>
            <a:chOff x="241560" y="9578520"/>
            <a:chExt cx="791280" cy="490680"/>
          </a:xfrm>
        </p:grpSpPr>
        <p:sp>
          <p:nvSpPr>
            <p:cNvPr id="65" name="Freeform 6"/>
            <p:cNvSpPr/>
            <p:nvPr/>
          </p:nvSpPr>
          <p:spPr>
            <a:xfrm>
              <a:off x="241560" y="9700200"/>
              <a:ext cx="791280" cy="369000"/>
            </a:xfrm>
            <a:custGeom>
              <a:avLst/>
              <a:gdLst>
                <a:gd name="textAreaLeft" fmla="*/ 0 w 791280"/>
                <a:gd name="textAreaRight" fmla="*/ 791640 w 7912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1055646" h="492442">
                  <a:moveTo>
                    <a:pt x="0" y="0"/>
                  </a:moveTo>
                  <a:lnTo>
                    <a:pt x="1055646" y="0"/>
                  </a:lnTo>
                  <a:lnTo>
                    <a:pt x="1055646" y="492442"/>
                  </a:lnTo>
                  <a:lnTo>
                    <a:pt x="0" y="49244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7"/>
            <p:cNvSpPr/>
            <p:nvPr/>
          </p:nvSpPr>
          <p:spPr>
            <a:xfrm>
              <a:off x="241560" y="9578520"/>
              <a:ext cx="79128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3195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© Indium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Group 8"/>
          <p:cNvGrpSpPr/>
          <p:nvPr/>
        </p:nvGrpSpPr>
        <p:grpSpPr>
          <a:xfrm>
            <a:off x="7958880" y="1028880"/>
            <a:ext cx="9528480" cy="7392240"/>
            <a:chOff x="7958880" y="1028880"/>
            <a:chExt cx="9528480" cy="7392240"/>
          </a:xfrm>
        </p:grpSpPr>
        <p:sp>
          <p:nvSpPr>
            <p:cNvPr id="68" name="Freeform 9"/>
            <p:cNvSpPr/>
            <p:nvPr/>
          </p:nvSpPr>
          <p:spPr>
            <a:xfrm>
              <a:off x="7958880" y="1028880"/>
              <a:ext cx="9528480" cy="7392240"/>
            </a:xfrm>
            <a:custGeom>
              <a:avLst/>
              <a:gdLst>
                <a:gd name="textAreaLeft" fmla="*/ 0 w 9528480"/>
                <a:gd name="textAreaRight" fmla="*/ 9528840 w 9528480"/>
                <a:gd name="textAreaTop" fmla="*/ 0 h 7392240"/>
                <a:gd name="textAreaBottom" fmla="*/ 7392600 h 7392240"/>
              </a:gdLst>
              <a:ahLst/>
              <a:cxnLst/>
              <a:rect l="textAreaLeft" t="textAreaTop" r="textAreaRight" b="textAreaBottom"/>
              <a:pathLst>
                <a:path w="12705176" h="9856717">
                  <a:moveTo>
                    <a:pt x="0" y="629448"/>
                  </a:moveTo>
                  <a:cubicBezTo>
                    <a:pt x="0" y="281758"/>
                    <a:pt x="368596" y="0"/>
                    <a:pt x="823445" y="0"/>
                  </a:cubicBezTo>
                  <a:lnTo>
                    <a:pt x="11881736" y="0"/>
                  </a:lnTo>
                  <a:cubicBezTo>
                    <a:pt x="12336447" y="0"/>
                    <a:pt x="12705176" y="281758"/>
                    <a:pt x="12705176" y="629448"/>
                  </a:cubicBezTo>
                  <a:lnTo>
                    <a:pt x="12705176" y="9227262"/>
                  </a:lnTo>
                  <a:cubicBezTo>
                    <a:pt x="12705176" y="9574847"/>
                    <a:pt x="12336584" y="9856717"/>
                    <a:pt x="11881736" y="9856717"/>
                  </a:cubicBezTo>
                  <a:lnTo>
                    <a:pt x="823445" y="9856717"/>
                  </a:lnTo>
                  <a:cubicBezTo>
                    <a:pt x="368596" y="9856718"/>
                    <a:pt x="0" y="9574848"/>
                    <a:pt x="0" y="9227262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9" name="TextBox 10"/>
          <p:cNvSpPr/>
          <p:nvPr/>
        </p:nvSpPr>
        <p:spPr>
          <a:xfrm>
            <a:off x="800280" y="2755440"/>
            <a:ext cx="7158600" cy="42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70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Personalized Retail Recommendation AI Agent</a:t>
            </a:r>
            <a:endParaRPr lang="en-IN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-328320" y="7435800"/>
            <a:ext cx="7872840" cy="26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999"/>
              </a:lnSpc>
            </a:pPr>
            <a:r>
              <a:rPr lang="en-US" sz="5000" b="0" u="none" spc="-5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Presented by: </a:t>
            </a:r>
            <a:endParaRPr lang="en-IN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999"/>
              </a:lnSpc>
            </a:pPr>
            <a:r>
              <a:rPr lang="en-US" sz="5000" b="0" u="none" spc="-5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SHRAVAN TALEKI</a:t>
            </a:r>
            <a:endParaRPr lang="en-IN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999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2"/>
          <p:cNvGrpSpPr/>
          <p:nvPr/>
        </p:nvGrpSpPr>
        <p:grpSpPr>
          <a:xfrm>
            <a:off x="241560" y="9578520"/>
            <a:ext cx="791280" cy="490680"/>
            <a:chOff x="241560" y="9578520"/>
            <a:chExt cx="791280" cy="490680"/>
          </a:xfrm>
        </p:grpSpPr>
        <p:sp>
          <p:nvSpPr>
            <p:cNvPr id="72" name="Freeform 3"/>
            <p:cNvSpPr/>
            <p:nvPr/>
          </p:nvSpPr>
          <p:spPr>
            <a:xfrm>
              <a:off x="241560" y="9700200"/>
              <a:ext cx="791280" cy="369000"/>
            </a:xfrm>
            <a:custGeom>
              <a:avLst/>
              <a:gdLst>
                <a:gd name="textAreaLeft" fmla="*/ 0 w 791280"/>
                <a:gd name="textAreaRight" fmla="*/ 791640 w 7912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1055646" h="492442">
                  <a:moveTo>
                    <a:pt x="0" y="0"/>
                  </a:moveTo>
                  <a:lnTo>
                    <a:pt x="1055646" y="0"/>
                  </a:lnTo>
                  <a:lnTo>
                    <a:pt x="1055646" y="492442"/>
                  </a:lnTo>
                  <a:lnTo>
                    <a:pt x="0" y="49244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"/>
            <p:cNvSpPr/>
            <p:nvPr/>
          </p:nvSpPr>
          <p:spPr>
            <a:xfrm>
              <a:off x="241560" y="9578520"/>
              <a:ext cx="79128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3195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© Indium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5"/>
          <p:cNvGrpSpPr/>
          <p:nvPr/>
        </p:nvGrpSpPr>
        <p:grpSpPr>
          <a:xfrm>
            <a:off x="17402400" y="9590760"/>
            <a:ext cx="643680" cy="581040"/>
            <a:chOff x="17402400" y="9590760"/>
            <a:chExt cx="643680" cy="581040"/>
          </a:xfrm>
        </p:grpSpPr>
        <p:sp>
          <p:nvSpPr>
            <p:cNvPr id="75" name="Freeform 6"/>
            <p:cNvSpPr/>
            <p:nvPr/>
          </p:nvSpPr>
          <p:spPr>
            <a:xfrm>
              <a:off x="17402400" y="9605160"/>
              <a:ext cx="643680" cy="566640"/>
            </a:xfrm>
            <a:custGeom>
              <a:avLst/>
              <a:gdLst>
                <a:gd name="textAreaLeft" fmla="*/ 0 w 643680"/>
                <a:gd name="textAreaRight" fmla="*/ 644040 w 64368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858754" h="756214">
                  <a:moveTo>
                    <a:pt x="0" y="0"/>
                  </a:moveTo>
                  <a:lnTo>
                    <a:pt x="858754" y="0"/>
                  </a:lnTo>
                  <a:lnTo>
                    <a:pt x="858754" y="756214"/>
                  </a:lnTo>
                  <a:lnTo>
                    <a:pt x="0" y="75621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7"/>
            <p:cNvSpPr/>
            <p:nvPr/>
          </p:nvSpPr>
          <p:spPr>
            <a:xfrm>
              <a:off x="17402400" y="9590760"/>
              <a:ext cx="643680" cy="58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‹#›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Freeform 8"/>
          <p:cNvSpPr/>
          <p:nvPr/>
        </p:nvSpPr>
        <p:spPr>
          <a:xfrm>
            <a:off x="17244720" y="413280"/>
            <a:ext cx="655920" cy="655920"/>
          </a:xfrm>
          <a:custGeom>
            <a:avLst/>
            <a:gdLst>
              <a:gd name="textAreaLeft" fmla="*/ 0 w 655920"/>
              <a:gd name="textAreaRight" fmla="*/ 656280 w 655920"/>
              <a:gd name="textAreaTop" fmla="*/ 0 h 655920"/>
              <a:gd name="textAreaBottom" fmla="*/ 656280 h 655920"/>
            </a:gdLst>
            <a:ahLst/>
            <a:cxnLst/>
            <a:rect l="textAreaLeft" t="textAreaTop" r="textAreaRight" b="textAreaBottom"/>
            <a:pathLst>
              <a:path w="656311" h="656311">
                <a:moveTo>
                  <a:pt x="0" y="0"/>
                </a:moveTo>
                <a:lnTo>
                  <a:pt x="656311" y="0"/>
                </a:lnTo>
                <a:lnTo>
                  <a:pt x="656311" y="656311"/>
                </a:lnTo>
                <a:lnTo>
                  <a:pt x="0" y="6563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Group 9"/>
          <p:cNvGrpSpPr/>
          <p:nvPr/>
        </p:nvGrpSpPr>
        <p:grpSpPr>
          <a:xfrm>
            <a:off x="314280" y="360"/>
            <a:ext cx="2543040" cy="228240"/>
            <a:chOff x="314280" y="360"/>
            <a:chExt cx="2543040" cy="228240"/>
          </a:xfrm>
        </p:grpSpPr>
        <p:sp>
          <p:nvSpPr>
            <p:cNvPr id="79" name="Freeform 10"/>
            <p:cNvSpPr/>
            <p:nvPr/>
          </p:nvSpPr>
          <p:spPr>
            <a:xfrm rot="16200000">
              <a:off x="1471680" y="-1156680"/>
              <a:ext cx="228240" cy="25430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543040"/>
                <a:gd name="textAreaBottom" fmla="*/ 2543400 h 2543040"/>
              </a:gdLst>
              <a:ahLst/>
              <a:cxnLst/>
              <a:rect l="textAreaLeft" t="textAreaTop" r="textAreaRight" b="textAreaBottom"/>
              <a:pathLst>
                <a:path w="304800" h="3391281">
                  <a:moveTo>
                    <a:pt x="304800" y="0"/>
                  </a:moveTo>
                  <a:lnTo>
                    <a:pt x="0" y="0"/>
                  </a:lnTo>
                  <a:lnTo>
                    <a:pt x="0" y="3391281"/>
                  </a:lnTo>
                  <a:lnTo>
                    <a:pt x="304800" y="3391281"/>
                  </a:lnTo>
                  <a:close/>
                </a:path>
              </a:pathLst>
            </a:custGeom>
            <a:gradFill rotWithShape="0">
              <a:gsLst>
                <a:gs pos="0">
                  <a:srgbClr val="FB371E"/>
                </a:gs>
                <a:gs pos="100000">
                  <a:srgbClr val="FB851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11"/>
          <p:cNvSpPr/>
          <p:nvPr/>
        </p:nvSpPr>
        <p:spPr>
          <a:xfrm>
            <a:off x="6765120" y="1076400"/>
            <a:ext cx="670608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314"/>
              </a:lnSpc>
            </a:pPr>
            <a:r>
              <a:rPr lang="en-US" sz="77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AGENDA</a:t>
            </a:r>
            <a:endParaRPr lang="en-IN" sz="7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4086360" y="3912840"/>
            <a:ext cx="10114920" cy="32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101240" lvl="1" indent="-550440" defTabSz="914400">
              <a:lnSpc>
                <a:spcPts val="6486"/>
              </a:lnSpc>
              <a:buClr>
                <a:srgbClr val="000000"/>
              </a:buClr>
              <a:buFont typeface="Arial"/>
              <a:buChar char="•"/>
            </a:pPr>
            <a:r>
              <a:rPr lang="en-US" sz="5100" b="0" u="none" spc="-20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PROBLEM STATEMENT</a:t>
            </a:r>
            <a:endParaRPr lang="en-IN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1240" lvl="1" indent="-550440" defTabSz="914400">
              <a:lnSpc>
                <a:spcPts val="6486"/>
              </a:lnSpc>
              <a:buClr>
                <a:srgbClr val="000000"/>
              </a:buClr>
              <a:buFont typeface="Arial"/>
              <a:buChar char="•"/>
            </a:pPr>
            <a:r>
              <a:rPr lang="en-US" sz="5100" b="0" u="none" spc="-20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SOLUTION &amp; TECH STACK</a:t>
            </a:r>
            <a:endParaRPr lang="en-IN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1240" lvl="1" indent="-550440" defTabSz="914400">
              <a:lnSpc>
                <a:spcPts val="6486"/>
              </a:lnSpc>
              <a:buClr>
                <a:srgbClr val="000000"/>
              </a:buClr>
              <a:buFont typeface="Arial"/>
              <a:buChar char="•"/>
            </a:pPr>
            <a:r>
              <a:rPr lang="en-US" sz="5100" b="0" u="none" spc="-20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ARCHITECTURE DIAGRAM</a:t>
            </a:r>
            <a:endParaRPr lang="en-IN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1240" lvl="1" indent="-550440" defTabSz="914400">
              <a:lnSpc>
                <a:spcPts val="6120"/>
              </a:lnSpc>
              <a:buClr>
                <a:srgbClr val="000000"/>
              </a:buClr>
              <a:buFont typeface="Arial"/>
              <a:buChar char="•"/>
            </a:pPr>
            <a:r>
              <a:rPr lang="en-US" sz="5100" b="0" u="none" spc="-31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KEY FEATURES</a:t>
            </a:r>
            <a:endParaRPr lang="en-IN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13"/>
          <p:cNvGrpSpPr/>
          <p:nvPr/>
        </p:nvGrpSpPr>
        <p:grpSpPr>
          <a:xfrm>
            <a:off x="0" y="5572800"/>
            <a:ext cx="18287640" cy="4713840"/>
            <a:chOff x="0" y="5572800"/>
            <a:chExt cx="18287640" cy="4713840"/>
          </a:xfrm>
        </p:grpSpPr>
        <p:sp>
          <p:nvSpPr>
            <p:cNvPr id="83" name="Freeform 14"/>
            <p:cNvSpPr/>
            <p:nvPr/>
          </p:nvSpPr>
          <p:spPr>
            <a:xfrm>
              <a:off x="0" y="5572800"/>
              <a:ext cx="18287640" cy="4713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4713840"/>
                <a:gd name="textAreaBottom" fmla="*/ 4714200 h 4713840"/>
              </a:gdLst>
              <a:ahLst/>
              <a:cxnLst/>
              <a:rect l="textAreaLeft" t="textAreaTop" r="textAreaRight" b="textAreaBottom"/>
              <a:pathLst>
                <a:path w="24384000" h="6285738">
                  <a:moveTo>
                    <a:pt x="0" y="0"/>
                  </a:moveTo>
                  <a:lnTo>
                    <a:pt x="24384000" y="0"/>
                  </a:lnTo>
                  <a:lnTo>
                    <a:pt x="24384000" y="6285738"/>
                  </a:lnTo>
                  <a:lnTo>
                    <a:pt x="0" y="62857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alphaModFix amt="13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2"/>
          <p:cNvGrpSpPr/>
          <p:nvPr/>
        </p:nvGrpSpPr>
        <p:grpSpPr>
          <a:xfrm>
            <a:off x="241560" y="9578520"/>
            <a:ext cx="791280" cy="490680"/>
            <a:chOff x="241560" y="9578520"/>
            <a:chExt cx="791280" cy="490680"/>
          </a:xfrm>
        </p:grpSpPr>
        <p:sp>
          <p:nvSpPr>
            <p:cNvPr id="85" name="Freeform 3"/>
            <p:cNvSpPr/>
            <p:nvPr/>
          </p:nvSpPr>
          <p:spPr>
            <a:xfrm>
              <a:off x="241560" y="9700200"/>
              <a:ext cx="791280" cy="369000"/>
            </a:xfrm>
            <a:custGeom>
              <a:avLst/>
              <a:gdLst>
                <a:gd name="textAreaLeft" fmla="*/ 0 w 791280"/>
                <a:gd name="textAreaRight" fmla="*/ 791640 w 7912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1055646" h="492442">
                  <a:moveTo>
                    <a:pt x="0" y="0"/>
                  </a:moveTo>
                  <a:lnTo>
                    <a:pt x="1055646" y="0"/>
                  </a:lnTo>
                  <a:lnTo>
                    <a:pt x="1055646" y="492442"/>
                  </a:lnTo>
                  <a:lnTo>
                    <a:pt x="0" y="49244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"/>
            <p:cNvSpPr/>
            <p:nvPr/>
          </p:nvSpPr>
          <p:spPr>
            <a:xfrm>
              <a:off x="241560" y="9578520"/>
              <a:ext cx="79128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3195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© Indium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Group 5"/>
          <p:cNvGrpSpPr/>
          <p:nvPr/>
        </p:nvGrpSpPr>
        <p:grpSpPr>
          <a:xfrm>
            <a:off x="17402400" y="9590760"/>
            <a:ext cx="643680" cy="581040"/>
            <a:chOff x="17402400" y="9590760"/>
            <a:chExt cx="643680" cy="581040"/>
          </a:xfrm>
        </p:grpSpPr>
        <p:sp>
          <p:nvSpPr>
            <p:cNvPr id="88" name="Freeform 6"/>
            <p:cNvSpPr/>
            <p:nvPr/>
          </p:nvSpPr>
          <p:spPr>
            <a:xfrm>
              <a:off x="17402400" y="9605160"/>
              <a:ext cx="643680" cy="566640"/>
            </a:xfrm>
            <a:custGeom>
              <a:avLst/>
              <a:gdLst>
                <a:gd name="textAreaLeft" fmla="*/ 0 w 643680"/>
                <a:gd name="textAreaRight" fmla="*/ 644040 w 64368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858754" h="756214">
                  <a:moveTo>
                    <a:pt x="0" y="0"/>
                  </a:moveTo>
                  <a:lnTo>
                    <a:pt x="858754" y="0"/>
                  </a:lnTo>
                  <a:lnTo>
                    <a:pt x="858754" y="756214"/>
                  </a:lnTo>
                  <a:lnTo>
                    <a:pt x="0" y="75621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7"/>
            <p:cNvSpPr/>
            <p:nvPr/>
          </p:nvSpPr>
          <p:spPr>
            <a:xfrm>
              <a:off x="17402400" y="9590760"/>
              <a:ext cx="643680" cy="58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‹#›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Freeform 8"/>
          <p:cNvSpPr/>
          <p:nvPr/>
        </p:nvSpPr>
        <p:spPr>
          <a:xfrm>
            <a:off x="17244720" y="413280"/>
            <a:ext cx="655920" cy="655920"/>
          </a:xfrm>
          <a:custGeom>
            <a:avLst/>
            <a:gdLst>
              <a:gd name="textAreaLeft" fmla="*/ 0 w 655920"/>
              <a:gd name="textAreaRight" fmla="*/ 656280 w 655920"/>
              <a:gd name="textAreaTop" fmla="*/ 0 h 655920"/>
              <a:gd name="textAreaBottom" fmla="*/ 656280 h 655920"/>
            </a:gdLst>
            <a:ahLst/>
            <a:cxnLst/>
            <a:rect l="textAreaLeft" t="textAreaTop" r="textAreaRight" b="textAreaBottom"/>
            <a:pathLst>
              <a:path w="656311" h="656311">
                <a:moveTo>
                  <a:pt x="0" y="0"/>
                </a:moveTo>
                <a:lnTo>
                  <a:pt x="656311" y="0"/>
                </a:lnTo>
                <a:lnTo>
                  <a:pt x="656311" y="656311"/>
                </a:lnTo>
                <a:lnTo>
                  <a:pt x="0" y="6563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roup 9"/>
          <p:cNvGrpSpPr/>
          <p:nvPr/>
        </p:nvGrpSpPr>
        <p:grpSpPr>
          <a:xfrm>
            <a:off x="0" y="5572800"/>
            <a:ext cx="18287640" cy="4713840"/>
            <a:chOff x="0" y="5572800"/>
            <a:chExt cx="18287640" cy="4713840"/>
          </a:xfrm>
        </p:grpSpPr>
        <p:sp>
          <p:nvSpPr>
            <p:cNvPr id="92" name="Freeform 10"/>
            <p:cNvSpPr/>
            <p:nvPr/>
          </p:nvSpPr>
          <p:spPr>
            <a:xfrm>
              <a:off x="0" y="5572800"/>
              <a:ext cx="18287640" cy="4713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4713840"/>
                <a:gd name="textAreaBottom" fmla="*/ 4714200 h 4713840"/>
              </a:gdLst>
              <a:ahLst/>
              <a:cxnLst/>
              <a:rect l="textAreaLeft" t="textAreaTop" r="textAreaRight" b="textAreaBottom"/>
              <a:pathLst>
                <a:path w="24384000" h="6285738">
                  <a:moveTo>
                    <a:pt x="0" y="0"/>
                  </a:moveTo>
                  <a:lnTo>
                    <a:pt x="24384000" y="0"/>
                  </a:lnTo>
                  <a:lnTo>
                    <a:pt x="24384000" y="6285738"/>
                  </a:lnTo>
                  <a:lnTo>
                    <a:pt x="0" y="62857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alphaModFix amt="13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11"/>
          <p:cNvGrpSpPr/>
          <p:nvPr/>
        </p:nvGrpSpPr>
        <p:grpSpPr>
          <a:xfrm>
            <a:off x="314280" y="360"/>
            <a:ext cx="2543040" cy="228240"/>
            <a:chOff x="314280" y="360"/>
            <a:chExt cx="2543040" cy="228240"/>
          </a:xfrm>
        </p:grpSpPr>
        <p:sp>
          <p:nvSpPr>
            <p:cNvPr id="94" name="Freeform 12"/>
            <p:cNvSpPr/>
            <p:nvPr/>
          </p:nvSpPr>
          <p:spPr>
            <a:xfrm rot="16200000">
              <a:off x="1471680" y="-1156680"/>
              <a:ext cx="228240" cy="25430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543040"/>
                <a:gd name="textAreaBottom" fmla="*/ 2543400 h 2543040"/>
              </a:gdLst>
              <a:ahLst/>
              <a:cxnLst/>
              <a:rect l="textAreaLeft" t="textAreaTop" r="textAreaRight" b="textAreaBottom"/>
              <a:pathLst>
                <a:path w="304800" h="3391281">
                  <a:moveTo>
                    <a:pt x="304800" y="0"/>
                  </a:moveTo>
                  <a:lnTo>
                    <a:pt x="0" y="0"/>
                  </a:lnTo>
                  <a:lnTo>
                    <a:pt x="0" y="3391281"/>
                  </a:lnTo>
                  <a:lnTo>
                    <a:pt x="304800" y="3391281"/>
                  </a:lnTo>
                  <a:close/>
                </a:path>
              </a:pathLst>
            </a:custGeom>
            <a:gradFill rotWithShape="0">
              <a:gsLst>
                <a:gs pos="0">
                  <a:srgbClr val="FB371E"/>
                </a:gs>
                <a:gs pos="100000">
                  <a:srgbClr val="FB851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13"/>
          <p:cNvGrpSpPr/>
          <p:nvPr/>
        </p:nvGrpSpPr>
        <p:grpSpPr>
          <a:xfrm>
            <a:off x="1028880" y="2234160"/>
            <a:ext cx="15656400" cy="2223360"/>
            <a:chOff x="1028880" y="2234160"/>
            <a:chExt cx="15656400" cy="2223360"/>
          </a:xfrm>
        </p:grpSpPr>
        <p:sp>
          <p:nvSpPr>
            <p:cNvPr id="96" name="Freeform 14"/>
            <p:cNvSpPr/>
            <p:nvPr/>
          </p:nvSpPr>
          <p:spPr>
            <a:xfrm>
              <a:off x="1028880" y="2248560"/>
              <a:ext cx="15656040" cy="2208960"/>
            </a:xfrm>
            <a:custGeom>
              <a:avLst/>
              <a:gdLst>
                <a:gd name="textAreaLeft" fmla="*/ 0 w 15656040"/>
                <a:gd name="textAreaRight" fmla="*/ 15656400 w 15656040"/>
                <a:gd name="textAreaTop" fmla="*/ 0 h 2208960"/>
                <a:gd name="textAreaBottom" fmla="*/ 2209320 h 2208960"/>
              </a:gdLst>
              <a:ahLst/>
              <a:cxnLst/>
              <a:rect l="textAreaLeft" t="textAreaTop" r="textAreaRight" b="textAreaBottom"/>
              <a:pathLst>
                <a:path w="20875371" h="2945629">
                  <a:moveTo>
                    <a:pt x="0" y="387476"/>
                  </a:moveTo>
                  <a:cubicBezTo>
                    <a:pt x="0" y="173622"/>
                    <a:pt x="1230439" y="0"/>
                    <a:pt x="2746004" y="0"/>
                  </a:cubicBezTo>
                  <a:lnTo>
                    <a:pt x="18129368" y="0"/>
                  </a:lnTo>
                  <a:cubicBezTo>
                    <a:pt x="19646846" y="0"/>
                    <a:pt x="20875371" y="173622"/>
                    <a:pt x="20875371" y="387476"/>
                  </a:cubicBezTo>
                  <a:lnTo>
                    <a:pt x="20875371" y="2558153"/>
                  </a:lnTo>
                  <a:cubicBezTo>
                    <a:pt x="20875371" y="2772277"/>
                    <a:pt x="19644931" y="2945629"/>
                    <a:pt x="18129368" y="2945629"/>
                  </a:cubicBezTo>
                  <a:lnTo>
                    <a:pt x="2746004" y="2945629"/>
                  </a:lnTo>
                  <a:cubicBezTo>
                    <a:pt x="1230439" y="2945629"/>
                    <a:pt x="0" y="2772007"/>
                    <a:pt x="0" y="2558153"/>
                  </a:cubicBezTo>
                  <a:close/>
                </a:path>
              </a:pathLst>
            </a:custGeom>
            <a:solidFill>
              <a:srgbClr val="FFBD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TextBox 15"/>
            <p:cNvSpPr/>
            <p:nvPr/>
          </p:nvSpPr>
          <p:spPr>
            <a:xfrm>
              <a:off x="1028880" y="2234160"/>
              <a:ext cx="15656400" cy="222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 algn="ctr" defTabSz="914400">
                <a:lnSpc>
                  <a:spcPts val="504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4200" b="0" u="none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Generic AI retail agents often prioritize "chat" over "accuracy," leading to a breakdown in shopper trust and data security. </a:t>
              </a:r>
              <a:endParaRPr lang="en-IN" sz="4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TextBox 16"/>
          <p:cNvSpPr/>
          <p:nvPr/>
        </p:nvSpPr>
        <p:spPr>
          <a:xfrm>
            <a:off x="1033560" y="4544640"/>
            <a:ext cx="15246000" cy="53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63640" lvl="1" indent="-431640" defTabSz="914400">
              <a:lnSpc>
                <a:spcPts val="479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23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Data Hallucinations: Recommending out-of-budget, non-existent, or "ghost" products.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431640" defTabSz="914400">
              <a:lnSpc>
                <a:spcPts val="479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23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Privacy Compromise: Cloud dependency risks sensitive shopper PII and proprietary catalog data.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431640" defTabSz="914400">
              <a:lnSpc>
                <a:spcPts val="479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23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Latency Barriers: High-SLA cloud models result in slow responses, breaking the shopping flow.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431640" defTabSz="914400">
              <a:lnSpc>
                <a:spcPts val="479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23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Aesthetic Gap: Standard AI UIs lack the premium feel required for luxury e-commerce.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3640" lvl="1" indent="-431640" defTabSz="914400">
              <a:lnSpc>
                <a:spcPts val="479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23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Disconnected Logic: Failure to pair logical follow-ups (e.g., matching shoes with a dress).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7"/>
          <p:cNvSpPr/>
          <p:nvPr/>
        </p:nvSpPr>
        <p:spPr>
          <a:xfrm>
            <a:off x="1033560" y="789120"/>
            <a:ext cx="11512800" cy="10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560"/>
              </a:lnSpc>
            </a:pPr>
            <a:r>
              <a:rPr lang="en-US" sz="70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PROLEM STATEMENT</a:t>
            </a:r>
            <a:endParaRPr lang="en-IN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2"/>
          <p:cNvGrpSpPr/>
          <p:nvPr/>
        </p:nvGrpSpPr>
        <p:grpSpPr>
          <a:xfrm>
            <a:off x="241560" y="9578520"/>
            <a:ext cx="791280" cy="490680"/>
            <a:chOff x="241560" y="9578520"/>
            <a:chExt cx="791280" cy="490680"/>
          </a:xfrm>
        </p:grpSpPr>
        <p:sp>
          <p:nvSpPr>
            <p:cNvPr id="101" name="Freeform 3"/>
            <p:cNvSpPr/>
            <p:nvPr/>
          </p:nvSpPr>
          <p:spPr>
            <a:xfrm>
              <a:off x="241560" y="9700200"/>
              <a:ext cx="791280" cy="369000"/>
            </a:xfrm>
            <a:custGeom>
              <a:avLst/>
              <a:gdLst>
                <a:gd name="textAreaLeft" fmla="*/ 0 w 791280"/>
                <a:gd name="textAreaRight" fmla="*/ 791640 w 7912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1055646" h="492442">
                  <a:moveTo>
                    <a:pt x="0" y="0"/>
                  </a:moveTo>
                  <a:lnTo>
                    <a:pt x="1055646" y="0"/>
                  </a:lnTo>
                  <a:lnTo>
                    <a:pt x="1055646" y="492442"/>
                  </a:lnTo>
                  <a:lnTo>
                    <a:pt x="0" y="49244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4"/>
            <p:cNvSpPr/>
            <p:nvPr/>
          </p:nvSpPr>
          <p:spPr>
            <a:xfrm>
              <a:off x="241560" y="9578520"/>
              <a:ext cx="79128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3195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© Indium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" name="Group 5"/>
          <p:cNvGrpSpPr/>
          <p:nvPr/>
        </p:nvGrpSpPr>
        <p:grpSpPr>
          <a:xfrm>
            <a:off x="17402400" y="9590760"/>
            <a:ext cx="643680" cy="581040"/>
            <a:chOff x="17402400" y="9590760"/>
            <a:chExt cx="643680" cy="581040"/>
          </a:xfrm>
        </p:grpSpPr>
        <p:sp>
          <p:nvSpPr>
            <p:cNvPr id="104" name="Freeform 6"/>
            <p:cNvSpPr/>
            <p:nvPr/>
          </p:nvSpPr>
          <p:spPr>
            <a:xfrm>
              <a:off x="17402400" y="9605160"/>
              <a:ext cx="643680" cy="566640"/>
            </a:xfrm>
            <a:custGeom>
              <a:avLst/>
              <a:gdLst>
                <a:gd name="textAreaLeft" fmla="*/ 0 w 643680"/>
                <a:gd name="textAreaRight" fmla="*/ 644040 w 64368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858754" h="756214">
                  <a:moveTo>
                    <a:pt x="0" y="0"/>
                  </a:moveTo>
                  <a:lnTo>
                    <a:pt x="858754" y="0"/>
                  </a:lnTo>
                  <a:lnTo>
                    <a:pt x="858754" y="756214"/>
                  </a:lnTo>
                  <a:lnTo>
                    <a:pt x="0" y="75621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TextBox 7"/>
            <p:cNvSpPr/>
            <p:nvPr/>
          </p:nvSpPr>
          <p:spPr>
            <a:xfrm>
              <a:off x="17402400" y="9590760"/>
              <a:ext cx="643680" cy="58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‹#›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" name="Freeform 8"/>
          <p:cNvSpPr/>
          <p:nvPr/>
        </p:nvSpPr>
        <p:spPr>
          <a:xfrm>
            <a:off x="17244720" y="413280"/>
            <a:ext cx="655920" cy="655920"/>
          </a:xfrm>
          <a:custGeom>
            <a:avLst/>
            <a:gdLst>
              <a:gd name="textAreaLeft" fmla="*/ 0 w 655920"/>
              <a:gd name="textAreaRight" fmla="*/ 656280 w 655920"/>
              <a:gd name="textAreaTop" fmla="*/ 0 h 655920"/>
              <a:gd name="textAreaBottom" fmla="*/ 656280 h 655920"/>
            </a:gdLst>
            <a:ahLst/>
            <a:cxnLst/>
            <a:rect l="textAreaLeft" t="textAreaTop" r="textAreaRight" b="textAreaBottom"/>
            <a:pathLst>
              <a:path w="656311" h="656311">
                <a:moveTo>
                  <a:pt x="0" y="0"/>
                </a:moveTo>
                <a:lnTo>
                  <a:pt x="656311" y="0"/>
                </a:lnTo>
                <a:lnTo>
                  <a:pt x="656311" y="656311"/>
                </a:lnTo>
                <a:lnTo>
                  <a:pt x="0" y="6563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" name="Group 9"/>
          <p:cNvGrpSpPr/>
          <p:nvPr/>
        </p:nvGrpSpPr>
        <p:grpSpPr>
          <a:xfrm>
            <a:off x="314280" y="360"/>
            <a:ext cx="2543040" cy="228240"/>
            <a:chOff x="314280" y="360"/>
            <a:chExt cx="2543040" cy="228240"/>
          </a:xfrm>
        </p:grpSpPr>
        <p:sp>
          <p:nvSpPr>
            <p:cNvPr id="108" name="Freeform 10"/>
            <p:cNvSpPr/>
            <p:nvPr/>
          </p:nvSpPr>
          <p:spPr>
            <a:xfrm rot="16200000">
              <a:off x="1471680" y="-1156680"/>
              <a:ext cx="228240" cy="254304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543040"/>
                <a:gd name="textAreaBottom" fmla="*/ 2543400 h 2543040"/>
              </a:gdLst>
              <a:ahLst/>
              <a:cxnLst/>
              <a:rect l="textAreaLeft" t="textAreaTop" r="textAreaRight" b="textAreaBottom"/>
              <a:pathLst>
                <a:path w="304800" h="3391281">
                  <a:moveTo>
                    <a:pt x="304800" y="0"/>
                  </a:moveTo>
                  <a:lnTo>
                    <a:pt x="0" y="0"/>
                  </a:lnTo>
                  <a:lnTo>
                    <a:pt x="0" y="3391281"/>
                  </a:lnTo>
                  <a:lnTo>
                    <a:pt x="304800" y="3391281"/>
                  </a:lnTo>
                  <a:close/>
                </a:path>
              </a:pathLst>
            </a:custGeom>
            <a:gradFill rotWithShape="0">
              <a:gsLst>
                <a:gs pos="0">
                  <a:srgbClr val="FB371E"/>
                </a:gs>
                <a:gs pos="100000">
                  <a:srgbClr val="FB851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TextBox 11"/>
          <p:cNvSpPr/>
          <p:nvPr/>
        </p:nvSpPr>
        <p:spPr>
          <a:xfrm>
            <a:off x="405720" y="2019240"/>
            <a:ext cx="8737920" cy="88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12440" lvl="1" indent="-356400" defTabSz="914400">
              <a:lnSpc>
                <a:spcPts val="419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100% Offline Ecosystem: Absolute privacy and zero data leakage using local inference via Ollama.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2440" lvl="1" indent="-356400" defTabSz="914400">
              <a:lnSpc>
                <a:spcPts val="419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Hybrid Reliability: Rule-based Pandas filtering ensures 0% product hallucinations and 100% budget compliance.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2440" lvl="1" indent="-356400" defTabSz="914400">
              <a:lnSpc>
                <a:spcPts val="419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High Performance: Sub-5-second response times achieved via the ultra-fast Qwen 1.5B model.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2440" lvl="1" indent="-356400" defTabSz="914400">
              <a:lnSpc>
                <a:spcPts val="419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Luxury User Experience: Streamlit-powered dashboard with interactive, zero-scroll grid layouts and mobile-responsive CSS.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2440" lvl="1" indent="-356400" defTabSz="914400">
              <a:lnSpc>
                <a:spcPts val="419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u="none" spc="-14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Contextual Intelligence: Multi-factor reasoning considering local trends, social influence, and upcoming events.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2440" lvl="1" indent="-356400" defTabSz="914400">
              <a:lnSpc>
                <a:spcPts val="4198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endParaRPr lang="en-IN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" name="Group 12"/>
          <p:cNvGrpSpPr/>
          <p:nvPr/>
        </p:nvGrpSpPr>
        <p:grpSpPr>
          <a:xfrm>
            <a:off x="0" y="5572800"/>
            <a:ext cx="18287640" cy="4713840"/>
            <a:chOff x="0" y="5572800"/>
            <a:chExt cx="18287640" cy="4713840"/>
          </a:xfrm>
        </p:grpSpPr>
        <p:sp>
          <p:nvSpPr>
            <p:cNvPr id="111" name="Freeform 13"/>
            <p:cNvSpPr/>
            <p:nvPr/>
          </p:nvSpPr>
          <p:spPr>
            <a:xfrm>
              <a:off x="0" y="5572800"/>
              <a:ext cx="18287640" cy="4713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4713840"/>
                <a:gd name="textAreaBottom" fmla="*/ 4714200 h 4713840"/>
              </a:gdLst>
              <a:ahLst/>
              <a:cxnLst/>
              <a:rect l="textAreaLeft" t="textAreaTop" r="textAreaRight" b="textAreaBottom"/>
              <a:pathLst>
                <a:path w="24384000" h="6285738">
                  <a:moveTo>
                    <a:pt x="0" y="0"/>
                  </a:moveTo>
                  <a:lnTo>
                    <a:pt x="24384000" y="0"/>
                  </a:lnTo>
                  <a:lnTo>
                    <a:pt x="24384000" y="6285738"/>
                  </a:lnTo>
                  <a:lnTo>
                    <a:pt x="0" y="62857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alphaModFix amt="13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Freeform 17"/>
          <p:cNvSpPr/>
          <p:nvPr/>
        </p:nvSpPr>
        <p:spPr>
          <a:xfrm>
            <a:off x="11788200" y="3437280"/>
            <a:ext cx="1706040" cy="1706040"/>
          </a:xfrm>
          <a:custGeom>
            <a:avLst/>
            <a:gdLst>
              <a:gd name="textAreaLeft" fmla="*/ 0 w 1706040"/>
              <a:gd name="textAreaRight" fmla="*/ 1706400 w 1706040"/>
              <a:gd name="textAreaTop" fmla="*/ 0 h 1706040"/>
              <a:gd name="textAreaBottom" fmla="*/ 1706400 h 1706040"/>
            </a:gdLst>
            <a:ahLst/>
            <a:cxnLst/>
            <a:rect l="textAreaLeft" t="textAreaTop" r="textAreaRight" b="textAreaBottom"/>
            <a:pathLst>
              <a:path w="1706248" h="1706248">
                <a:moveTo>
                  <a:pt x="0" y="0"/>
                </a:moveTo>
                <a:lnTo>
                  <a:pt x="1706248" y="0"/>
                </a:lnTo>
                <a:lnTo>
                  <a:pt x="1706248" y="1706248"/>
                </a:lnTo>
                <a:lnTo>
                  <a:pt x="0" y="17062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0"/>
          <p:cNvSpPr/>
          <p:nvPr/>
        </p:nvSpPr>
        <p:spPr>
          <a:xfrm>
            <a:off x="405720" y="664920"/>
            <a:ext cx="4790880" cy="10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560"/>
              </a:lnSpc>
            </a:pPr>
            <a:r>
              <a:rPr lang="en-US" sz="7000" b="0" u="none" strike="noStrike">
                <a:solidFill>
                  <a:srgbClr val="000000"/>
                </a:solidFill>
                <a:effectLst/>
                <a:uFillTx/>
                <a:latin typeface="Arimo"/>
                <a:ea typeface="Arimo"/>
              </a:rPr>
              <a:t>SOLUTION:</a:t>
            </a:r>
            <a:endParaRPr lang="en-IN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/>
          <p:cNvPicPr/>
          <p:nvPr/>
        </p:nvPicPr>
        <p:blipFill>
          <a:blip r:embed="rId7"/>
          <a:stretch/>
        </p:blipFill>
        <p:spPr>
          <a:xfrm>
            <a:off x="11997360" y="1919880"/>
            <a:ext cx="1297440" cy="12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/>
          <p:cNvPicPr/>
          <p:nvPr/>
        </p:nvPicPr>
        <p:blipFill>
          <a:blip r:embed="rId8"/>
          <a:stretch/>
        </p:blipFill>
        <p:spPr>
          <a:xfrm>
            <a:off x="12926880" y="5896440"/>
            <a:ext cx="187272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/>
          <p:cNvPicPr/>
          <p:nvPr/>
        </p:nvPicPr>
        <p:blipFill>
          <a:blip r:embed="rId9"/>
          <a:stretch/>
        </p:blipFill>
        <p:spPr>
          <a:xfrm>
            <a:off x="14023800" y="4300200"/>
            <a:ext cx="2550600" cy="103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10"/>
          <a:stretch/>
        </p:blipFill>
        <p:spPr>
          <a:xfrm>
            <a:off x="13958640" y="2130480"/>
            <a:ext cx="1428480" cy="142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"/>
          <p:cNvGrpSpPr/>
          <p:nvPr/>
        </p:nvGrpSpPr>
        <p:grpSpPr>
          <a:xfrm>
            <a:off x="241560" y="9578520"/>
            <a:ext cx="791280" cy="490680"/>
            <a:chOff x="241560" y="9578520"/>
            <a:chExt cx="791280" cy="490680"/>
          </a:xfrm>
        </p:grpSpPr>
        <p:sp>
          <p:nvSpPr>
            <p:cNvPr id="119" name="Freeform 1"/>
            <p:cNvSpPr/>
            <p:nvPr/>
          </p:nvSpPr>
          <p:spPr>
            <a:xfrm>
              <a:off x="241560" y="9700200"/>
              <a:ext cx="791280" cy="369000"/>
            </a:xfrm>
            <a:custGeom>
              <a:avLst/>
              <a:gdLst>
                <a:gd name="textAreaLeft" fmla="*/ 0 w 791280"/>
                <a:gd name="textAreaRight" fmla="*/ 791640 w 7912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1055646" h="492442">
                  <a:moveTo>
                    <a:pt x="0" y="0"/>
                  </a:moveTo>
                  <a:lnTo>
                    <a:pt x="1055646" y="0"/>
                  </a:lnTo>
                  <a:lnTo>
                    <a:pt x="1055646" y="492442"/>
                  </a:lnTo>
                  <a:lnTo>
                    <a:pt x="0" y="492442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Box 1"/>
            <p:cNvSpPr/>
            <p:nvPr/>
          </p:nvSpPr>
          <p:spPr>
            <a:xfrm>
              <a:off x="241560" y="9578520"/>
              <a:ext cx="79128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3195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© Indium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1" name="Group 3"/>
          <p:cNvGrpSpPr/>
          <p:nvPr/>
        </p:nvGrpSpPr>
        <p:grpSpPr>
          <a:xfrm>
            <a:off x="17402400" y="9590760"/>
            <a:ext cx="643680" cy="581040"/>
            <a:chOff x="17402400" y="9590760"/>
            <a:chExt cx="643680" cy="581040"/>
          </a:xfrm>
        </p:grpSpPr>
        <p:sp>
          <p:nvSpPr>
            <p:cNvPr id="122" name="Freeform 7"/>
            <p:cNvSpPr/>
            <p:nvPr/>
          </p:nvSpPr>
          <p:spPr>
            <a:xfrm>
              <a:off x="17402400" y="9605160"/>
              <a:ext cx="643680" cy="566640"/>
            </a:xfrm>
            <a:custGeom>
              <a:avLst/>
              <a:gdLst>
                <a:gd name="textAreaLeft" fmla="*/ 0 w 643680"/>
                <a:gd name="textAreaRight" fmla="*/ 644040 w 64368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858754" h="756214">
                  <a:moveTo>
                    <a:pt x="0" y="0"/>
                  </a:moveTo>
                  <a:lnTo>
                    <a:pt x="858754" y="0"/>
                  </a:lnTo>
                  <a:lnTo>
                    <a:pt x="858754" y="756214"/>
                  </a:lnTo>
                  <a:lnTo>
                    <a:pt x="0" y="75621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2"/>
            <p:cNvSpPr/>
            <p:nvPr/>
          </p:nvSpPr>
          <p:spPr>
            <a:xfrm>
              <a:off x="17402400" y="9590760"/>
              <a:ext cx="643680" cy="58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621"/>
                </a:lnSpc>
              </a:pPr>
              <a:r>
                <a:rPr lang="en-US" sz="1350" b="0" u="none" spc="-14" strike="noStrike">
                  <a:solidFill>
                    <a:srgbClr val="000000"/>
                  </a:solidFill>
                  <a:effectLst/>
                  <a:uFillTx/>
                  <a:latin typeface="Arimo"/>
                  <a:ea typeface="Arimo"/>
                </a:rPr>
                <a:t>‹#›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Freeform 20"/>
          <p:cNvSpPr/>
          <p:nvPr/>
        </p:nvSpPr>
        <p:spPr>
          <a:xfrm>
            <a:off x="17244720" y="413280"/>
            <a:ext cx="655920" cy="655920"/>
          </a:xfrm>
          <a:custGeom>
            <a:avLst/>
            <a:gdLst>
              <a:gd name="textAreaLeft" fmla="*/ 0 w 655920"/>
              <a:gd name="textAreaRight" fmla="*/ 656280 w 655920"/>
              <a:gd name="textAreaTop" fmla="*/ 0 h 655920"/>
              <a:gd name="textAreaBottom" fmla="*/ 656280 h 655920"/>
            </a:gdLst>
            <a:ahLst/>
            <a:cxnLst/>
            <a:rect l="textAreaLeft" t="textAreaTop" r="textAreaRight" b="textAreaBottom"/>
            <a:pathLst>
              <a:path w="656311" h="656311">
                <a:moveTo>
                  <a:pt x="0" y="0"/>
                </a:moveTo>
                <a:lnTo>
                  <a:pt x="656311" y="0"/>
                </a:lnTo>
                <a:lnTo>
                  <a:pt x="656311" y="656311"/>
                </a:lnTo>
                <a:lnTo>
                  <a:pt x="0" y="6563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266120" y="671400"/>
            <a:ext cx="80020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400"/>
              </a:lnSpc>
            </a:pPr>
            <a:r>
              <a:rPr lang="en-US" sz="4500" b="1" u="none" spc="337" strike="noStrike">
                <a:solidFill>
                  <a:srgbClr val="111827"/>
                </a:solidFill>
                <a:effectLst/>
                <a:uFillTx/>
                <a:latin typeface="Arial Bold"/>
                <a:ea typeface="Arial Bold"/>
              </a:rPr>
              <a:t>ARCHITECTURE DESIGN</a:t>
            </a:r>
            <a:endParaRPr lang="en-IN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6" name="Group 14"/>
          <p:cNvGrpSpPr/>
          <p:nvPr/>
        </p:nvGrpSpPr>
        <p:grpSpPr>
          <a:xfrm>
            <a:off x="0" y="5572800"/>
            <a:ext cx="18287640" cy="4713840"/>
            <a:chOff x="0" y="5572800"/>
            <a:chExt cx="18287640" cy="4713840"/>
          </a:xfrm>
        </p:grpSpPr>
        <p:sp>
          <p:nvSpPr>
            <p:cNvPr id="127" name="Freeform 23"/>
            <p:cNvSpPr/>
            <p:nvPr/>
          </p:nvSpPr>
          <p:spPr>
            <a:xfrm>
              <a:off x="0" y="5572800"/>
              <a:ext cx="18287640" cy="47138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4713840"/>
                <a:gd name="textAreaBottom" fmla="*/ 4714200 h 4713840"/>
              </a:gdLst>
              <a:ahLst/>
              <a:cxnLst/>
              <a:rect l="textAreaLeft" t="textAreaTop" r="textAreaRight" b="textAreaBottom"/>
              <a:pathLst>
                <a:path w="24384000" h="6285738">
                  <a:moveTo>
                    <a:pt x="0" y="0"/>
                  </a:moveTo>
                  <a:lnTo>
                    <a:pt x="24384000" y="0"/>
                  </a:lnTo>
                  <a:lnTo>
                    <a:pt x="24384000" y="6285738"/>
                  </a:lnTo>
                  <a:lnTo>
                    <a:pt x="0" y="62857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alphaModFix amt="13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8" name="Group 16"/>
          <p:cNvGrpSpPr/>
          <p:nvPr/>
        </p:nvGrpSpPr>
        <p:grpSpPr>
          <a:xfrm>
            <a:off x="599040" y="381600"/>
            <a:ext cx="3291480" cy="106560"/>
            <a:chOff x="599040" y="381600"/>
            <a:chExt cx="3291480" cy="106560"/>
          </a:xfrm>
        </p:grpSpPr>
        <p:sp>
          <p:nvSpPr>
            <p:cNvPr id="129" name="Freeform 24"/>
            <p:cNvSpPr/>
            <p:nvPr/>
          </p:nvSpPr>
          <p:spPr>
            <a:xfrm>
              <a:off x="599040" y="381600"/>
              <a:ext cx="3291480" cy="106560"/>
            </a:xfrm>
            <a:custGeom>
              <a:avLst/>
              <a:gdLst>
                <a:gd name="textAreaLeft" fmla="*/ 0 w 3291480"/>
                <a:gd name="textAreaRight" fmla="*/ 3291840 w 329148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2438400" h="79248">
                  <a:moveTo>
                    <a:pt x="0" y="0"/>
                  </a:moveTo>
                  <a:lnTo>
                    <a:pt x="2438400" y="0"/>
                  </a:lnTo>
                  <a:lnTo>
                    <a:pt x="2438400" y="79248"/>
                  </a:lnTo>
                  <a:lnTo>
                    <a:pt x="0" y="79248"/>
                  </a:lnTo>
                  <a:close/>
                </a:path>
              </a:pathLst>
            </a:custGeom>
            <a:solidFill>
              <a:srgbClr val="FB851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0" name=""/>
          <p:cNvPicPr/>
          <p:nvPr/>
        </p:nvPicPr>
        <p:blipFill>
          <a:blip r:embed="rId6"/>
          <a:stretch/>
        </p:blipFill>
        <p:spPr>
          <a:xfrm>
            <a:off x="3149280" y="1810440"/>
            <a:ext cx="11230560" cy="793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2"/>
          <p:cNvGrpSpPr/>
          <p:nvPr/>
        </p:nvGrpSpPr>
        <p:grpSpPr>
          <a:xfrm>
            <a:off x="914400" y="0"/>
            <a:ext cx="3456000" cy="106560"/>
            <a:chOff x="914400" y="0"/>
            <a:chExt cx="3456000" cy="106560"/>
          </a:xfrm>
        </p:grpSpPr>
        <p:sp>
          <p:nvSpPr>
            <p:cNvPr id="132" name="Freeform 3"/>
            <p:cNvSpPr/>
            <p:nvPr/>
          </p:nvSpPr>
          <p:spPr>
            <a:xfrm>
              <a:off x="914400" y="0"/>
              <a:ext cx="3456000" cy="106560"/>
            </a:xfrm>
            <a:custGeom>
              <a:avLst/>
              <a:gdLst>
                <a:gd name="textAreaLeft" fmla="*/ 0 w 3456000"/>
                <a:gd name="textAreaRight" fmla="*/ 3456360 w 345600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2560320" h="79248">
                  <a:moveTo>
                    <a:pt x="0" y="0"/>
                  </a:moveTo>
                  <a:lnTo>
                    <a:pt x="2560320" y="0"/>
                  </a:lnTo>
                  <a:lnTo>
                    <a:pt x="2560320" y="79248"/>
                  </a:lnTo>
                  <a:lnTo>
                    <a:pt x="0" y="79248"/>
                  </a:lnTo>
                  <a:close/>
                </a:path>
              </a:pathLst>
            </a:custGeom>
            <a:solidFill>
              <a:srgbClr val="FB851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" name="Group 4"/>
          <p:cNvGrpSpPr/>
          <p:nvPr/>
        </p:nvGrpSpPr>
        <p:grpSpPr>
          <a:xfrm>
            <a:off x="1605600" y="201240"/>
            <a:ext cx="11521080" cy="831960"/>
            <a:chOff x="1605600" y="201240"/>
            <a:chExt cx="11521080" cy="831960"/>
          </a:xfrm>
        </p:grpSpPr>
        <p:sp>
          <p:nvSpPr>
            <p:cNvPr id="134" name="Freeform 5"/>
            <p:cNvSpPr/>
            <p:nvPr/>
          </p:nvSpPr>
          <p:spPr>
            <a:xfrm>
              <a:off x="1605600" y="213840"/>
              <a:ext cx="11521080" cy="819360"/>
            </a:xfrm>
            <a:custGeom>
              <a:avLst/>
              <a:gdLst>
                <a:gd name="textAreaLeft" fmla="*/ 0 w 11521080"/>
                <a:gd name="textAreaRight" fmla="*/ 11521440 w 11521080"/>
                <a:gd name="textAreaTop" fmla="*/ 0 h 819360"/>
                <a:gd name="textAreaBottom" fmla="*/ 819720 h 819360"/>
              </a:gdLst>
              <a:ahLst/>
              <a:cxnLst/>
              <a:rect l="textAreaLeft" t="textAreaTop" r="textAreaRight" b="textAreaBottom"/>
              <a:pathLst>
                <a:path w="8534400" h="607108">
                  <a:moveTo>
                    <a:pt x="0" y="0"/>
                  </a:moveTo>
                  <a:lnTo>
                    <a:pt x="8534400" y="0"/>
                  </a:lnTo>
                  <a:lnTo>
                    <a:pt x="8534400" y="607108"/>
                  </a:lnTo>
                  <a:lnTo>
                    <a:pt x="0" y="607108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Box 6"/>
            <p:cNvSpPr/>
            <p:nvPr/>
          </p:nvSpPr>
          <p:spPr>
            <a:xfrm>
              <a:off x="1605600" y="201240"/>
              <a:ext cx="11521080" cy="83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4799"/>
                </a:lnSpc>
              </a:pPr>
              <a:r>
                <a:rPr lang="en-US" sz="4000" b="1" u="none" spc="298" strike="noStrike">
                  <a:solidFill>
                    <a:srgbClr val="111827"/>
                  </a:solidFill>
                  <a:effectLst/>
                  <a:uFillTx/>
                  <a:latin typeface="Arial Bold"/>
                  <a:ea typeface="Arial Bold"/>
                </a:rPr>
                <a:t>KEY FEATURES</a:t>
              </a:r>
              <a:endParaRPr lang="en-IN" sz="4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" name="Group 7"/>
          <p:cNvGrpSpPr/>
          <p:nvPr/>
        </p:nvGrpSpPr>
        <p:grpSpPr>
          <a:xfrm>
            <a:off x="1731600" y="1343880"/>
            <a:ext cx="4701960" cy="3714120"/>
            <a:chOff x="1731600" y="1343880"/>
            <a:chExt cx="4701960" cy="3714120"/>
          </a:xfrm>
        </p:grpSpPr>
        <p:sp>
          <p:nvSpPr>
            <p:cNvPr id="137" name="Freeform 8"/>
            <p:cNvSpPr/>
            <p:nvPr/>
          </p:nvSpPr>
          <p:spPr>
            <a:xfrm>
              <a:off x="1737360" y="1349640"/>
              <a:ext cx="4690800" cy="3702960"/>
            </a:xfrm>
            <a:custGeom>
              <a:avLst/>
              <a:gdLst>
                <a:gd name="textAreaLeft" fmla="*/ 0 w 4690800"/>
                <a:gd name="textAreaRight" fmla="*/ 4691160 w 4690800"/>
                <a:gd name="textAreaTop" fmla="*/ 0 h 3702960"/>
                <a:gd name="textAreaBottom" fmla="*/ 3703320 h 3702960"/>
              </a:gdLst>
              <a:ahLst/>
              <a:cxnLst/>
              <a:rect l="textAreaLeft" t="textAreaTop" r="textAreaRight" b="textAreaBottom"/>
              <a:pathLst>
                <a:path w="3474847" h="2743200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352800" y="0"/>
                  </a:lnTo>
                  <a:cubicBezTo>
                    <a:pt x="3420110" y="0"/>
                    <a:pt x="3474847" y="54610"/>
                    <a:pt x="3474847" y="121920"/>
                  </a:cubicBezTo>
                  <a:lnTo>
                    <a:pt x="3474847" y="2621280"/>
                  </a:lnTo>
                  <a:cubicBezTo>
                    <a:pt x="3474847" y="2688590"/>
                    <a:pt x="3420237" y="2743200"/>
                    <a:pt x="3352800" y="2743200"/>
                  </a:cubicBezTo>
                  <a:lnTo>
                    <a:pt x="122047" y="2743200"/>
                  </a:lnTo>
                  <a:cubicBezTo>
                    <a:pt x="54737" y="2743200"/>
                    <a:pt x="0" y="2688590"/>
                    <a:pt x="0" y="2621280"/>
                  </a:cubicBezTo>
                  <a:close/>
                </a:path>
              </a:pathLst>
            </a:custGeom>
            <a:solidFill>
              <a:srgbClr val="F2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Freeform 9"/>
            <p:cNvSpPr/>
            <p:nvPr/>
          </p:nvSpPr>
          <p:spPr>
            <a:xfrm>
              <a:off x="1731600" y="1343880"/>
              <a:ext cx="4701960" cy="3714120"/>
            </a:xfrm>
            <a:custGeom>
              <a:avLst/>
              <a:gdLst>
                <a:gd name="textAreaLeft" fmla="*/ 0 w 4701960"/>
                <a:gd name="textAreaRight" fmla="*/ 4702320 w 4701960"/>
                <a:gd name="textAreaTop" fmla="*/ 0 h 3714120"/>
                <a:gd name="textAreaBottom" fmla="*/ 3714480 h 3714120"/>
              </a:gdLst>
              <a:ahLst/>
              <a:cxnLst/>
              <a:rect l="textAreaLeft" t="textAreaTop" r="textAreaRight" b="textAreaBottom"/>
              <a:pathLst>
                <a:path w="3483229" h="2751582">
                  <a:moveTo>
                    <a:pt x="0" y="126111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3356991" y="0"/>
                  </a:lnTo>
                  <a:lnTo>
                    <a:pt x="3356991" y="4191"/>
                  </a:lnTo>
                  <a:lnTo>
                    <a:pt x="3356991" y="0"/>
                  </a:lnTo>
                  <a:cubicBezTo>
                    <a:pt x="3426714" y="0"/>
                    <a:pt x="3483229" y="56515"/>
                    <a:pt x="3483229" y="126111"/>
                  </a:cubicBezTo>
                  <a:lnTo>
                    <a:pt x="3479038" y="126111"/>
                  </a:lnTo>
                  <a:lnTo>
                    <a:pt x="3483229" y="126111"/>
                  </a:lnTo>
                  <a:lnTo>
                    <a:pt x="3483229" y="2625471"/>
                  </a:lnTo>
                  <a:lnTo>
                    <a:pt x="3479038" y="2625471"/>
                  </a:lnTo>
                  <a:lnTo>
                    <a:pt x="3483229" y="2625471"/>
                  </a:lnTo>
                  <a:cubicBezTo>
                    <a:pt x="3483229" y="2695194"/>
                    <a:pt x="3426714" y="2751582"/>
                    <a:pt x="3356991" y="2751582"/>
                  </a:cubicBezTo>
                  <a:lnTo>
                    <a:pt x="3356991" y="2747391"/>
                  </a:lnTo>
                  <a:lnTo>
                    <a:pt x="3356991" y="2751582"/>
                  </a:lnTo>
                  <a:lnTo>
                    <a:pt x="126238" y="2751582"/>
                  </a:lnTo>
                  <a:lnTo>
                    <a:pt x="126238" y="2747391"/>
                  </a:lnTo>
                  <a:lnTo>
                    <a:pt x="126238" y="2751582"/>
                  </a:lnTo>
                  <a:cubicBezTo>
                    <a:pt x="56515" y="2751582"/>
                    <a:pt x="0" y="2695067"/>
                    <a:pt x="0" y="2625471"/>
                  </a:cubicBezTo>
                  <a:lnTo>
                    <a:pt x="0" y="126111"/>
                  </a:lnTo>
                  <a:lnTo>
                    <a:pt x="4191" y="126111"/>
                  </a:lnTo>
                  <a:lnTo>
                    <a:pt x="0" y="126111"/>
                  </a:lnTo>
                  <a:moveTo>
                    <a:pt x="8509" y="126111"/>
                  </a:moveTo>
                  <a:lnTo>
                    <a:pt x="8509" y="2625471"/>
                  </a:lnTo>
                  <a:lnTo>
                    <a:pt x="4191" y="2625471"/>
                  </a:lnTo>
                  <a:lnTo>
                    <a:pt x="8509" y="2625471"/>
                  </a:lnTo>
                  <a:cubicBezTo>
                    <a:pt x="8509" y="2690495"/>
                    <a:pt x="61214" y="2743200"/>
                    <a:pt x="126238" y="2743200"/>
                  </a:cubicBezTo>
                  <a:lnTo>
                    <a:pt x="3356991" y="2743200"/>
                  </a:lnTo>
                  <a:cubicBezTo>
                    <a:pt x="3422015" y="2743200"/>
                    <a:pt x="3474720" y="2690495"/>
                    <a:pt x="3474720" y="2625471"/>
                  </a:cubicBezTo>
                  <a:lnTo>
                    <a:pt x="3474720" y="126111"/>
                  </a:lnTo>
                  <a:cubicBezTo>
                    <a:pt x="3474720" y="61087"/>
                    <a:pt x="3422015" y="8382"/>
                    <a:pt x="3356991" y="8382"/>
                  </a:cubicBezTo>
                  <a:lnTo>
                    <a:pt x="126238" y="8382"/>
                  </a:lnTo>
                  <a:lnTo>
                    <a:pt x="126238" y="4191"/>
                  </a:lnTo>
                  <a:lnTo>
                    <a:pt x="126238" y="8509"/>
                  </a:lnTo>
                  <a:cubicBezTo>
                    <a:pt x="61214" y="8509"/>
                    <a:pt x="8509" y="61214"/>
                    <a:pt x="8509" y="126111"/>
                  </a:cubicBez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oup 10"/>
          <p:cNvGrpSpPr/>
          <p:nvPr/>
        </p:nvGrpSpPr>
        <p:grpSpPr>
          <a:xfrm>
            <a:off x="1893240" y="1505520"/>
            <a:ext cx="4378320" cy="3390840"/>
            <a:chOff x="1893240" y="1505520"/>
            <a:chExt cx="4378320" cy="3390840"/>
          </a:xfrm>
        </p:grpSpPr>
        <p:sp>
          <p:nvSpPr>
            <p:cNvPr id="140" name="Freeform 11"/>
            <p:cNvSpPr/>
            <p:nvPr/>
          </p:nvSpPr>
          <p:spPr>
            <a:xfrm>
              <a:off x="1901880" y="1514160"/>
              <a:ext cx="4361400" cy="337392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3373920"/>
                <a:gd name="textAreaBottom" fmla="*/ 3374280 h 3373920"/>
              </a:gdLst>
              <a:ahLst/>
              <a:cxnLst/>
              <a:rect l="textAreaLeft" t="textAreaTop" r="textAreaRight" b="textAreaBottom"/>
              <a:pathLst>
                <a:path w="3230880" h="2499360">
                  <a:moveTo>
                    <a:pt x="0" y="0"/>
                  </a:moveTo>
                  <a:lnTo>
                    <a:pt x="3230880" y="0"/>
                  </a:lnTo>
                  <a:lnTo>
                    <a:pt x="323088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12"/>
            <p:cNvSpPr/>
            <p:nvPr/>
          </p:nvSpPr>
          <p:spPr>
            <a:xfrm>
              <a:off x="1893240" y="1505520"/>
              <a:ext cx="4378320" cy="3390840"/>
            </a:xfrm>
            <a:custGeom>
              <a:avLst/>
              <a:gdLst>
                <a:gd name="textAreaLeft" fmla="*/ 0 w 4378320"/>
                <a:gd name="textAreaRight" fmla="*/ 4378680 w 4378320"/>
                <a:gd name="textAreaTop" fmla="*/ 0 h 3390840"/>
                <a:gd name="textAreaBottom" fmla="*/ 3391200 h 3390840"/>
              </a:gdLst>
              <a:ahLst/>
              <a:cxnLst/>
              <a:rect l="textAreaLeft" t="textAreaTop" r="textAreaRight" b="textAreaBottom"/>
              <a:pathLst>
                <a:path w="3243580" h="2512060">
                  <a:moveTo>
                    <a:pt x="6350" y="0"/>
                  </a:moveTo>
                  <a:lnTo>
                    <a:pt x="3237230" y="0"/>
                  </a:lnTo>
                  <a:cubicBezTo>
                    <a:pt x="3240786" y="0"/>
                    <a:pt x="3243580" y="2794"/>
                    <a:pt x="3243580" y="6350"/>
                  </a:cubicBezTo>
                  <a:lnTo>
                    <a:pt x="3243580" y="2505710"/>
                  </a:lnTo>
                  <a:cubicBezTo>
                    <a:pt x="3243580" y="2509266"/>
                    <a:pt x="3240786" y="2512060"/>
                    <a:pt x="3237230" y="2512060"/>
                  </a:cubicBezTo>
                  <a:lnTo>
                    <a:pt x="6350" y="2512060"/>
                  </a:lnTo>
                  <a:cubicBezTo>
                    <a:pt x="2794" y="2512060"/>
                    <a:pt x="0" y="2509266"/>
                    <a:pt x="0" y="25057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05710"/>
                  </a:lnTo>
                  <a:lnTo>
                    <a:pt x="6350" y="2505710"/>
                  </a:lnTo>
                  <a:lnTo>
                    <a:pt x="6350" y="2499360"/>
                  </a:lnTo>
                  <a:lnTo>
                    <a:pt x="3237230" y="2499360"/>
                  </a:lnTo>
                  <a:lnTo>
                    <a:pt x="3237230" y="2505710"/>
                  </a:lnTo>
                  <a:lnTo>
                    <a:pt x="3230880" y="2505710"/>
                  </a:lnTo>
                  <a:lnTo>
                    <a:pt x="3230880" y="6350"/>
                  </a:lnTo>
                  <a:lnTo>
                    <a:pt x="3237230" y="6350"/>
                  </a:lnTo>
                  <a:lnTo>
                    <a:pt x="323723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" name="Group 13"/>
          <p:cNvGrpSpPr/>
          <p:nvPr/>
        </p:nvGrpSpPr>
        <p:grpSpPr>
          <a:xfrm>
            <a:off x="1901880" y="1514160"/>
            <a:ext cx="4361400" cy="82080"/>
            <a:chOff x="1901880" y="1514160"/>
            <a:chExt cx="4361400" cy="82080"/>
          </a:xfrm>
        </p:grpSpPr>
        <p:sp>
          <p:nvSpPr>
            <p:cNvPr id="143" name="Freeform 14"/>
            <p:cNvSpPr/>
            <p:nvPr/>
          </p:nvSpPr>
          <p:spPr>
            <a:xfrm>
              <a:off x="1901880" y="1514160"/>
              <a:ext cx="4361400" cy="8208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230880" h="60960">
                  <a:moveTo>
                    <a:pt x="0" y="0"/>
                  </a:moveTo>
                  <a:lnTo>
                    <a:pt x="3230880" y="0"/>
                  </a:lnTo>
                  <a:lnTo>
                    <a:pt x="32308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3B82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4" name="Group 15"/>
          <p:cNvGrpSpPr/>
          <p:nvPr/>
        </p:nvGrpSpPr>
        <p:grpSpPr>
          <a:xfrm>
            <a:off x="2181240" y="1694520"/>
            <a:ext cx="758160" cy="758160"/>
            <a:chOff x="2181240" y="1694520"/>
            <a:chExt cx="758160" cy="758160"/>
          </a:xfrm>
        </p:grpSpPr>
        <p:sp>
          <p:nvSpPr>
            <p:cNvPr id="145" name="Freeform 16"/>
            <p:cNvSpPr/>
            <p:nvPr/>
          </p:nvSpPr>
          <p:spPr>
            <a:xfrm>
              <a:off x="2198160" y="171180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3B82F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17"/>
            <p:cNvSpPr/>
            <p:nvPr/>
          </p:nvSpPr>
          <p:spPr>
            <a:xfrm>
              <a:off x="2181240" y="1694520"/>
              <a:ext cx="758160" cy="75816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0 h 758160"/>
                <a:gd name="textAreaBottom" fmla="*/ 758520 h 758160"/>
              </a:gdLst>
              <a:ahLst/>
              <a:cxnLst/>
              <a:rect l="textAreaLeft" t="textAreaTop" r="textAreaRight" b="textAreaBottom"/>
              <a:pathLst>
                <a:path w="561848" h="561848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280924" y="12700"/>
                  </a:lnTo>
                  <a:lnTo>
                    <a:pt x="280924" y="0"/>
                  </a:lnTo>
                  <a:cubicBezTo>
                    <a:pt x="436118" y="0"/>
                    <a:pt x="561848" y="125730"/>
                    <a:pt x="561848" y="280924"/>
                  </a:cubicBezTo>
                  <a:lnTo>
                    <a:pt x="549148" y="280924"/>
                  </a:lnTo>
                  <a:lnTo>
                    <a:pt x="561848" y="280924"/>
                  </a:lnTo>
                  <a:cubicBezTo>
                    <a:pt x="561848" y="436118"/>
                    <a:pt x="436118" y="561848"/>
                    <a:pt x="280924" y="561848"/>
                  </a:cubicBezTo>
                  <a:lnTo>
                    <a:pt x="280924" y="549148"/>
                  </a:lnTo>
                  <a:lnTo>
                    <a:pt x="280924" y="561848"/>
                  </a:lnTo>
                  <a:cubicBezTo>
                    <a:pt x="125730" y="561848"/>
                    <a:pt x="0" y="436118"/>
                    <a:pt x="0" y="280924"/>
                  </a:cubicBezTo>
                  <a:lnTo>
                    <a:pt x="12700" y="280924"/>
                  </a:lnTo>
                  <a:lnTo>
                    <a:pt x="25400" y="280924"/>
                  </a:lnTo>
                  <a:lnTo>
                    <a:pt x="12700" y="280924"/>
                  </a:lnTo>
                  <a:lnTo>
                    <a:pt x="0" y="280924"/>
                  </a:lnTo>
                  <a:moveTo>
                    <a:pt x="25400" y="280924"/>
                  </a:moveTo>
                  <a:cubicBezTo>
                    <a:pt x="25400" y="287909"/>
                    <a:pt x="19685" y="293624"/>
                    <a:pt x="12700" y="293624"/>
                  </a:cubicBezTo>
                  <a:cubicBezTo>
                    <a:pt x="5715" y="293624"/>
                    <a:pt x="0" y="287909"/>
                    <a:pt x="0" y="280924"/>
                  </a:cubicBezTo>
                  <a:cubicBezTo>
                    <a:pt x="0" y="273939"/>
                    <a:pt x="5715" y="268224"/>
                    <a:pt x="12700" y="268224"/>
                  </a:cubicBezTo>
                  <a:cubicBezTo>
                    <a:pt x="19685" y="268224"/>
                    <a:pt x="25400" y="273939"/>
                    <a:pt x="25400" y="280924"/>
                  </a:cubicBezTo>
                  <a:cubicBezTo>
                    <a:pt x="25400" y="422021"/>
                    <a:pt x="139827" y="536448"/>
                    <a:pt x="280924" y="536448"/>
                  </a:cubicBezTo>
                  <a:cubicBezTo>
                    <a:pt x="422021" y="536448"/>
                    <a:pt x="536448" y="422021"/>
                    <a:pt x="536448" y="280924"/>
                  </a:cubicBezTo>
                  <a:cubicBezTo>
                    <a:pt x="536448" y="139827"/>
                    <a:pt x="422021" y="25400"/>
                    <a:pt x="280924" y="25400"/>
                  </a:cubicBezTo>
                  <a:lnTo>
                    <a:pt x="280924" y="12700"/>
                  </a:lnTo>
                  <a:lnTo>
                    <a:pt x="280924" y="25400"/>
                  </a:lnTo>
                  <a:cubicBezTo>
                    <a:pt x="139827" y="25400"/>
                    <a:pt x="25400" y="139827"/>
                    <a:pt x="25400" y="280924"/>
                  </a:cubicBezTo>
                  <a:close/>
                </a:path>
              </a:pathLst>
            </a:custGeom>
            <a:solidFill>
              <a:srgbClr val="3B82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" name="Group 18"/>
          <p:cNvGrpSpPr/>
          <p:nvPr/>
        </p:nvGrpSpPr>
        <p:grpSpPr>
          <a:xfrm>
            <a:off x="2198160" y="1621800"/>
            <a:ext cx="723960" cy="813960"/>
            <a:chOff x="2198160" y="1621800"/>
            <a:chExt cx="723960" cy="813960"/>
          </a:xfrm>
        </p:grpSpPr>
        <p:sp>
          <p:nvSpPr>
            <p:cNvPr id="148" name="Freeform 19"/>
            <p:cNvSpPr/>
            <p:nvPr/>
          </p:nvSpPr>
          <p:spPr>
            <a:xfrm>
              <a:off x="2198160" y="171180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Box 20"/>
            <p:cNvSpPr/>
            <p:nvPr/>
          </p:nvSpPr>
          <p:spPr>
            <a:xfrm>
              <a:off x="2198160" y="1621800"/>
              <a:ext cx="723960" cy="81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671"/>
                </a:lnSpc>
              </a:pPr>
              <a:r>
                <a:rPr lang="en-US" sz="3060" b="0" u="none" strike="noStrike">
                  <a:solidFill>
                    <a:srgbClr val="000000"/>
                  </a:solidFill>
                  <a:effectLst/>
                  <a:uFillTx/>
                  <a:latin typeface="Calibri (MS)"/>
                  <a:ea typeface="Calibri (MS)"/>
                </a:rPr>
                <a:t>🖥️</a:t>
              </a:r>
              <a:endParaRPr lang="en-IN" sz="30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" name="Group 21"/>
          <p:cNvGrpSpPr/>
          <p:nvPr/>
        </p:nvGrpSpPr>
        <p:grpSpPr>
          <a:xfrm>
            <a:off x="3136320" y="1702440"/>
            <a:ext cx="2962440" cy="255960"/>
            <a:chOff x="3136320" y="1702440"/>
            <a:chExt cx="2962440" cy="255960"/>
          </a:xfrm>
        </p:grpSpPr>
        <p:sp>
          <p:nvSpPr>
            <p:cNvPr id="151" name="Freeform 22"/>
            <p:cNvSpPr/>
            <p:nvPr/>
          </p:nvSpPr>
          <p:spPr>
            <a:xfrm>
              <a:off x="3136320" y="1728360"/>
              <a:ext cx="2962440" cy="230040"/>
            </a:xfrm>
            <a:custGeom>
              <a:avLst/>
              <a:gdLst>
                <a:gd name="textAreaLeft" fmla="*/ 0 w 2962440"/>
                <a:gd name="textAreaRight" fmla="*/ 2962800 w 296244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2194560" h="170688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TextBox 23"/>
            <p:cNvSpPr/>
            <p:nvPr/>
          </p:nvSpPr>
          <p:spPr>
            <a:xfrm>
              <a:off x="3136320" y="1702440"/>
              <a:ext cx="2962440" cy="25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03"/>
                </a:lnSpc>
              </a:pPr>
              <a:r>
                <a:rPr lang="en-US" sz="1170" b="1" u="none" spc="269" strike="noStrike">
                  <a:solidFill>
                    <a:srgbClr val="9CA3AF"/>
                  </a:solidFill>
                  <a:effectLst/>
                  <a:uFillTx/>
                  <a:latin typeface="Calibri (MS) Bold"/>
                  <a:ea typeface="Calibri (MS) Bold"/>
                </a:rPr>
                <a:t>FEATURE 01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3" name="Group 24"/>
          <p:cNvGrpSpPr/>
          <p:nvPr/>
        </p:nvGrpSpPr>
        <p:grpSpPr>
          <a:xfrm>
            <a:off x="2198160" y="2424600"/>
            <a:ext cx="3933360" cy="544680"/>
            <a:chOff x="2198160" y="2424600"/>
            <a:chExt cx="3933360" cy="544680"/>
          </a:xfrm>
        </p:grpSpPr>
        <p:sp>
          <p:nvSpPr>
            <p:cNvPr id="154" name="Freeform 25"/>
            <p:cNvSpPr/>
            <p:nvPr/>
          </p:nvSpPr>
          <p:spPr>
            <a:xfrm>
              <a:off x="2198160" y="2501640"/>
              <a:ext cx="3933360" cy="46728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467280"/>
                <a:gd name="textAreaBottom" fmla="*/ 467640 h 467280"/>
              </a:gdLst>
              <a:ahLst/>
              <a:cxnLst/>
              <a:rect l="textAreaLeft" t="textAreaTop" r="textAreaRight" b="textAreaBottom"/>
              <a:pathLst>
                <a:path w="2913888" h="346508">
                  <a:moveTo>
                    <a:pt x="0" y="0"/>
                  </a:moveTo>
                  <a:lnTo>
                    <a:pt x="2913888" y="0"/>
                  </a:lnTo>
                  <a:lnTo>
                    <a:pt x="2913888" y="346508"/>
                  </a:lnTo>
                  <a:lnTo>
                    <a:pt x="0" y="34650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26"/>
            <p:cNvSpPr/>
            <p:nvPr/>
          </p:nvSpPr>
          <p:spPr>
            <a:xfrm>
              <a:off x="2198160" y="2424600"/>
              <a:ext cx="3933360" cy="54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80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2340" b="1" u="none" strike="noStrike">
                  <a:solidFill>
                    <a:srgbClr val="111827"/>
                  </a:solidFill>
                  <a:effectLst/>
                  <a:uFillTx/>
                  <a:latin typeface="Calibri (MS) Bold"/>
                  <a:ea typeface="Calibri (MS) Bold"/>
                </a:rPr>
                <a:t>Deterministic Filtering </a:t>
              </a:r>
              <a:endParaRPr lang="en-IN" sz="23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roup 27"/>
          <p:cNvGrpSpPr/>
          <p:nvPr/>
        </p:nvGrpSpPr>
        <p:grpSpPr>
          <a:xfrm>
            <a:off x="2198160" y="2957040"/>
            <a:ext cx="3933360" cy="943560"/>
            <a:chOff x="2198160" y="2957040"/>
            <a:chExt cx="3933360" cy="943560"/>
          </a:xfrm>
        </p:grpSpPr>
        <p:sp>
          <p:nvSpPr>
            <p:cNvPr id="157" name="Freeform 28"/>
            <p:cNvSpPr/>
            <p:nvPr/>
          </p:nvSpPr>
          <p:spPr>
            <a:xfrm>
              <a:off x="2198160" y="2995560"/>
              <a:ext cx="3933360" cy="90504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905040"/>
                <a:gd name="textAreaBottom" fmla="*/ 905400 h 905040"/>
              </a:gdLst>
              <a:ahLst/>
              <a:cxnLst/>
              <a:rect l="textAreaLeft" t="textAreaTop" r="textAreaRight" b="textAreaBottom"/>
              <a:pathLst>
                <a:path w="2913888" h="670560">
                  <a:moveTo>
                    <a:pt x="0" y="0"/>
                  </a:moveTo>
                  <a:lnTo>
                    <a:pt x="2913888" y="0"/>
                  </a:lnTo>
                  <a:lnTo>
                    <a:pt x="2913888" y="670560"/>
                  </a:lnTo>
                  <a:lnTo>
                    <a:pt x="0" y="67056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29"/>
            <p:cNvSpPr/>
            <p:nvPr/>
          </p:nvSpPr>
          <p:spPr>
            <a:xfrm>
              <a:off x="2198160" y="2957040"/>
              <a:ext cx="393336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945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620" b="0" u="none" strike="noStrike">
                  <a:solidFill>
                    <a:srgbClr val="6B7280"/>
                  </a:solidFill>
                  <a:effectLst/>
                  <a:uFillTx/>
                  <a:latin typeface="Calibri (MS)"/>
                  <a:ea typeface="Calibri (MS)"/>
                </a:rPr>
                <a:t>Strict budget and category enforcement using mathematical logic. </a:t>
              </a:r>
              <a:endParaRPr lang="en-IN" sz="16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Group 30"/>
          <p:cNvGrpSpPr/>
          <p:nvPr/>
        </p:nvGrpSpPr>
        <p:grpSpPr>
          <a:xfrm>
            <a:off x="2066400" y="4356000"/>
            <a:ext cx="4032000" cy="11160"/>
            <a:chOff x="2066400" y="4356000"/>
            <a:chExt cx="4032000" cy="11160"/>
          </a:xfrm>
        </p:grpSpPr>
        <p:sp>
          <p:nvSpPr>
            <p:cNvPr id="160" name="Freeform 31"/>
            <p:cNvSpPr/>
            <p:nvPr/>
          </p:nvSpPr>
          <p:spPr>
            <a:xfrm>
              <a:off x="2066400" y="4356000"/>
              <a:ext cx="4032000" cy="11160"/>
            </a:xfrm>
            <a:custGeom>
              <a:avLst/>
              <a:gdLst>
                <a:gd name="textAreaLeft" fmla="*/ 0 w 4032000"/>
                <a:gd name="textAreaRight" fmla="*/ 4032360 w 40320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87040" h="8509">
                  <a:moveTo>
                    <a:pt x="0" y="0"/>
                  </a:moveTo>
                  <a:lnTo>
                    <a:pt x="2987040" y="0"/>
                  </a:lnTo>
                  <a:lnTo>
                    <a:pt x="2987040" y="8509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480" rIns="90000" bIns="-334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1" name="Group 32"/>
          <p:cNvGrpSpPr/>
          <p:nvPr/>
        </p:nvGrpSpPr>
        <p:grpSpPr>
          <a:xfrm>
            <a:off x="2099520" y="4460400"/>
            <a:ext cx="1843200" cy="263160"/>
            <a:chOff x="2099520" y="4460400"/>
            <a:chExt cx="1843200" cy="263160"/>
          </a:xfrm>
        </p:grpSpPr>
        <p:sp>
          <p:nvSpPr>
            <p:cNvPr id="162" name="Freeform 33"/>
            <p:cNvSpPr/>
            <p:nvPr/>
          </p:nvSpPr>
          <p:spPr>
            <a:xfrm>
              <a:off x="2099520" y="4460400"/>
              <a:ext cx="1843200" cy="263160"/>
            </a:xfrm>
            <a:custGeom>
              <a:avLst/>
              <a:gdLst>
                <a:gd name="textAreaLeft" fmla="*/ 0 w 1843200"/>
                <a:gd name="textAreaRight" fmla="*/ 1843560 w 184320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365504" h="195072">
                  <a:moveTo>
                    <a:pt x="0" y="48768"/>
                  </a:moveTo>
                  <a:cubicBezTo>
                    <a:pt x="0" y="21844"/>
                    <a:pt x="23368" y="0"/>
                    <a:pt x="52324" y="0"/>
                  </a:cubicBezTo>
                  <a:lnTo>
                    <a:pt x="1313180" y="0"/>
                  </a:lnTo>
                  <a:cubicBezTo>
                    <a:pt x="1342136" y="0"/>
                    <a:pt x="1365504" y="21844"/>
                    <a:pt x="1365504" y="48768"/>
                  </a:cubicBezTo>
                  <a:lnTo>
                    <a:pt x="1365504" y="146304"/>
                  </a:lnTo>
                  <a:cubicBezTo>
                    <a:pt x="1365504" y="173228"/>
                    <a:pt x="1342009" y="195072"/>
                    <a:pt x="1313180" y="195072"/>
                  </a:cubicBezTo>
                  <a:lnTo>
                    <a:pt x="52324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EFF6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" name="Group 34"/>
          <p:cNvGrpSpPr/>
          <p:nvPr/>
        </p:nvGrpSpPr>
        <p:grpSpPr>
          <a:xfrm>
            <a:off x="2099520" y="4435920"/>
            <a:ext cx="1761480" cy="275760"/>
            <a:chOff x="2099520" y="4435920"/>
            <a:chExt cx="1761480" cy="275760"/>
          </a:xfrm>
        </p:grpSpPr>
        <p:sp>
          <p:nvSpPr>
            <p:cNvPr id="164" name="Freeform 35"/>
            <p:cNvSpPr/>
            <p:nvPr/>
          </p:nvSpPr>
          <p:spPr>
            <a:xfrm>
              <a:off x="2099520" y="4460400"/>
              <a:ext cx="1761480" cy="251280"/>
            </a:xfrm>
            <a:custGeom>
              <a:avLst/>
              <a:gdLst>
                <a:gd name="textAreaLeft" fmla="*/ 0 w 1761480"/>
                <a:gd name="textAreaRight" fmla="*/ 1761840 w 1761480"/>
                <a:gd name="textAreaTop" fmla="*/ 0 h 251280"/>
                <a:gd name="textAreaBottom" fmla="*/ 251640 h 251280"/>
              </a:gdLst>
              <a:ahLst/>
              <a:cxnLst/>
              <a:rect l="textAreaLeft" t="textAreaTop" r="textAreaRight" b="textAreaBottom"/>
              <a:pathLst>
                <a:path w="1365504" h="195072">
                  <a:moveTo>
                    <a:pt x="0" y="0"/>
                  </a:moveTo>
                  <a:lnTo>
                    <a:pt x="1365504" y="0"/>
                  </a:lnTo>
                  <a:lnTo>
                    <a:pt x="1365504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36"/>
            <p:cNvSpPr/>
            <p:nvPr/>
          </p:nvSpPr>
          <p:spPr>
            <a:xfrm>
              <a:off x="2099520" y="4435920"/>
              <a:ext cx="1761480" cy="27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2563EB"/>
                  </a:solidFill>
                  <a:effectLst/>
                  <a:uFillTx/>
                  <a:latin typeface="Calibri (MS)"/>
                  <a:ea typeface="Calibri (MS)"/>
                </a:rPr>
                <a:t>Pandas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" name="Group 37"/>
          <p:cNvGrpSpPr/>
          <p:nvPr/>
        </p:nvGrpSpPr>
        <p:grpSpPr>
          <a:xfrm>
            <a:off x="4033440" y="4460400"/>
            <a:ext cx="1744200" cy="263160"/>
            <a:chOff x="4033440" y="4460400"/>
            <a:chExt cx="1744200" cy="263160"/>
          </a:xfrm>
        </p:grpSpPr>
        <p:sp>
          <p:nvSpPr>
            <p:cNvPr id="167" name="Freeform 38"/>
            <p:cNvSpPr/>
            <p:nvPr/>
          </p:nvSpPr>
          <p:spPr>
            <a:xfrm>
              <a:off x="4033440" y="4460400"/>
              <a:ext cx="1744200" cy="263160"/>
            </a:xfrm>
            <a:custGeom>
              <a:avLst/>
              <a:gdLst>
                <a:gd name="textAreaLeft" fmla="*/ 0 w 1744200"/>
                <a:gd name="textAreaRight" fmla="*/ 1744560 w 174420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292352" h="195072">
                  <a:moveTo>
                    <a:pt x="0" y="48768"/>
                  </a:moveTo>
                  <a:cubicBezTo>
                    <a:pt x="0" y="21844"/>
                    <a:pt x="23368" y="0"/>
                    <a:pt x="52324" y="0"/>
                  </a:cubicBezTo>
                  <a:lnTo>
                    <a:pt x="1240028" y="0"/>
                  </a:lnTo>
                  <a:cubicBezTo>
                    <a:pt x="1268984" y="0"/>
                    <a:pt x="1292352" y="21844"/>
                    <a:pt x="1292352" y="48768"/>
                  </a:cubicBezTo>
                  <a:lnTo>
                    <a:pt x="1292352" y="146304"/>
                  </a:lnTo>
                  <a:cubicBezTo>
                    <a:pt x="1292352" y="173228"/>
                    <a:pt x="1268984" y="195072"/>
                    <a:pt x="1240028" y="195072"/>
                  </a:cubicBezTo>
                  <a:lnTo>
                    <a:pt x="52324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EFF6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" name="Group 39"/>
          <p:cNvGrpSpPr/>
          <p:nvPr/>
        </p:nvGrpSpPr>
        <p:grpSpPr>
          <a:xfrm>
            <a:off x="4033440" y="4434840"/>
            <a:ext cx="1744200" cy="288720"/>
            <a:chOff x="4033440" y="4434840"/>
            <a:chExt cx="1744200" cy="288720"/>
          </a:xfrm>
        </p:grpSpPr>
        <p:sp>
          <p:nvSpPr>
            <p:cNvPr id="169" name="Freeform 40"/>
            <p:cNvSpPr/>
            <p:nvPr/>
          </p:nvSpPr>
          <p:spPr>
            <a:xfrm>
              <a:off x="4033440" y="4460400"/>
              <a:ext cx="1744200" cy="262800"/>
            </a:xfrm>
            <a:custGeom>
              <a:avLst/>
              <a:gdLst>
                <a:gd name="textAreaLeft" fmla="*/ 0 w 1744200"/>
                <a:gd name="textAreaRight" fmla="*/ 1744560 w 1744200"/>
                <a:gd name="textAreaTop" fmla="*/ 0 h 262800"/>
                <a:gd name="textAreaBottom" fmla="*/ 263160 h 262800"/>
              </a:gdLst>
              <a:ahLst/>
              <a:cxnLst/>
              <a:rect l="textAreaLeft" t="textAreaTop" r="textAreaRight" b="textAreaBottom"/>
              <a:pathLst>
                <a:path w="1292352" h="195072">
                  <a:moveTo>
                    <a:pt x="0" y="0"/>
                  </a:moveTo>
                  <a:lnTo>
                    <a:pt x="1292352" y="0"/>
                  </a:lnTo>
                  <a:lnTo>
                    <a:pt x="1292352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Box 41"/>
            <p:cNvSpPr/>
            <p:nvPr/>
          </p:nvSpPr>
          <p:spPr>
            <a:xfrm>
              <a:off x="4033440" y="4434840"/>
              <a:ext cx="1744200" cy="28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2563EB"/>
                  </a:solidFill>
                  <a:effectLst/>
                  <a:uFillTx/>
                  <a:latin typeface="Calibri (MS)"/>
                  <a:ea typeface="Calibri (MS)"/>
                </a:rPr>
                <a:t>Rules Engine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Group 42"/>
          <p:cNvGrpSpPr/>
          <p:nvPr/>
        </p:nvGrpSpPr>
        <p:grpSpPr>
          <a:xfrm>
            <a:off x="6833880" y="1343880"/>
            <a:ext cx="4701960" cy="3714120"/>
            <a:chOff x="6833880" y="1343880"/>
            <a:chExt cx="4701960" cy="3714120"/>
          </a:xfrm>
        </p:grpSpPr>
        <p:sp>
          <p:nvSpPr>
            <p:cNvPr id="172" name="Freeform 43"/>
            <p:cNvSpPr/>
            <p:nvPr/>
          </p:nvSpPr>
          <p:spPr>
            <a:xfrm>
              <a:off x="6839640" y="1349640"/>
              <a:ext cx="4690800" cy="3702960"/>
            </a:xfrm>
            <a:custGeom>
              <a:avLst/>
              <a:gdLst>
                <a:gd name="textAreaLeft" fmla="*/ 0 w 4690800"/>
                <a:gd name="textAreaRight" fmla="*/ 4691160 w 4690800"/>
                <a:gd name="textAreaTop" fmla="*/ 0 h 3702960"/>
                <a:gd name="textAreaBottom" fmla="*/ 3703320 h 3702960"/>
              </a:gdLst>
              <a:ahLst/>
              <a:cxnLst/>
              <a:rect l="textAreaLeft" t="textAreaTop" r="textAreaRight" b="textAreaBottom"/>
              <a:pathLst>
                <a:path w="3474847" h="2743200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352800" y="0"/>
                  </a:lnTo>
                  <a:cubicBezTo>
                    <a:pt x="3420110" y="0"/>
                    <a:pt x="3474847" y="54610"/>
                    <a:pt x="3474847" y="121920"/>
                  </a:cubicBezTo>
                  <a:lnTo>
                    <a:pt x="3474847" y="2621280"/>
                  </a:lnTo>
                  <a:cubicBezTo>
                    <a:pt x="3474847" y="2688590"/>
                    <a:pt x="3420237" y="2743200"/>
                    <a:pt x="3352800" y="2743200"/>
                  </a:cubicBezTo>
                  <a:lnTo>
                    <a:pt x="122047" y="2743200"/>
                  </a:lnTo>
                  <a:cubicBezTo>
                    <a:pt x="54737" y="2743200"/>
                    <a:pt x="0" y="2688590"/>
                    <a:pt x="0" y="2621280"/>
                  </a:cubicBezTo>
                  <a:close/>
                </a:path>
              </a:pathLst>
            </a:custGeom>
            <a:solidFill>
              <a:srgbClr val="F2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44"/>
            <p:cNvSpPr/>
            <p:nvPr/>
          </p:nvSpPr>
          <p:spPr>
            <a:xfrm>
              <a:off x="6833880" y="1343880"/>
              <a:ext cx="4701960" cy="3714120"/>
            </a:xfrm>
            <a:custGeom>
              <a:avLst/>
              <a:gdLst>
                <a:gd name="textAreaLeft" fmla="*/ 0 w 4701960"/>
                <a:gd name="textAreaRight" fmla="*/ 4702320 w 4701960"/>
                <a:gd name="textAreaTop" fmla="*/ 0 h 3714120"/>
                <a:gd name="textAreaBottom" fmla="*/ 3714480 h 3714120"/>
              </a:gdLst>
              <a:ahLst/>
              <a:cxnLst/>
              <a:rect l="textAreaLeft" t="textAreaTop" r="textAreaRight" b="textAreaBottom"/>
              <a:pathLst>
                <a:path w="3483229" h="2751582">
                  <a:moveTo>
                    <a:pt x="0" y="126111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3356991" y="0"/>
                  </a:lnTo>
                  <a:lnTo>
                    <a:pt x="3356991" y="4191"/>
                  </a:lnTo>
                  <a:lnTo>
                    <a:pt x="3356991" y="0"/>
                  </a:lnTo>
                  <a:cubicBezTo>
                    <a:pt x="3426714" y="0"/>
                    <a:pt x="3483229" y="56515"/>
                    <a:pt x="3483229" y="126111"/>
                  </a:cubicBezTo>
                  <a:lnTo>
                    <a:pt x="3479038" y="126111"/>
                  </a:lnTo>
                  <a:lnTo>
                    <a:pt x="3483229" y="126111"/>
                  </a:lnTo>
                  <a:lnTo>
                    <a:pt x="3483229" y="2625471"/>
                  </a:lnTo>
                  <a:lnTo>
                    <a:pt x="3479038" y="2625471"/>
                  </a:lnTo>
                  <a:lnTo>
                    <a:pt x="3483229" y="2625471"/>
                  </a:lnTo>
                  <a:cubicBezTo>
                    <a:pt x="3483229" y="2695194"/>
                    <a:pt x="3426714" y="2751582"/>
                    <a:pt x="3356991" y="2751582"/>
                  </a:cubicBezTo>
                  <a:lnTo>
                    <a:pt x="3356991" y="2747391"/>
                  </a:lnTo>
                  <a:lnTo>
                    <a:pt x="3356991" y="2751582"/>
                  </a:lnTo>
                  <a:lnTo>
                    <a:pt x="126238" y="2751582"/>
                  </a:lnTo>
                  <a:lnTo>
                    <a:pt x="126238" y="2747391"/>
                  </a:lnTo>
                  <a:lnTo>
                    <a:pt x="126238" y="2751582"/>
                  </a:lnTo>
                  <a:cubicBezTo>
                    <a:pt x="56515" y="2751582"/>
                    <a:pt x="0" y="2695067"/>
                    <a:pt x="0" y="2625471"/>
                  </a:cubicBezTo>
                  <a:lnTo>
                    <a:pt x="0" y="126111"/>
                  </a:lnTo>
                  <a:lnTo>
                    <a:pt x="4191" y="126111"/>
                  </a:lnTo>
                  <a:lnTo>
                    <a:pt x="0" y="126111"/>
                  </a:lnTo>
                  <a:moveTo>
                    <a:pt x="8509" y="126111"/>
                  </a:moveTo>
                  <a:lnTo>
                    <a:pt x="8509" y="2625471"/>
                  </a:lnTo>
                  <a:lnTo>
                    <a:pt x="4191" y="2625471"/>
                  </a:lnTo>
                  <a:lnTo>
                    <a:pt x="8509" y="2625471"/>
                  </a:lnTo>
                  <a:cubicBezTo>
                    <a:pt x="8509" y="2690495"/>
                    <a:pt x="61214" y="2743200"/>
                    <a:pt x="126238" y="2743200"/>
                  </a:cubicBezTo>
                  <a:lnTo>
                    <a:pt x="3356991" y="2743200"/>
                  </a:lnTo>
                  <a:cubicBezTo>
                    <a:pt x="3422015" y="2743200"/>
                    <a:pt x="3474720" y="2690495"/>
                    <a:pt x="3474720" y="2625471"/>
                  </a:cubicBezTo>
                  <a:lnTo>
                    <a:pt x="3474720" y="126111"/>
                  </a:lnTo>
                  <a:cubicBezTo>
                    <a:pt x="3474720" y="61087"/>
                    <a:pt x="3422015" y="8382"/>
                    <a:pt x="3356991" y="8382"/>
                  </a:cubicBezTo>
                  <a:lnTo>
                    <a:pt x="126238" y="8382"/>
                  </a:lnTo>
                  <a:lnTo>
                    <a:pt x="126238" y="4191"/>
                  </a:lnTo>
                  <a:lnTo>
                    <a:pt x="126238" y="8509"/>
                  </a:lnTo>
                  <a:cubicBezTo>
                    <a:pt x="61214" y="8509"/>
                    <a:pt x="8509" y="61214"/>
                    <a:pt x="8509" y="126111"/>
                  </a:cubicBez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" name="Group 45"/>
          <p:cNvGrpSpPr/>
          <p:nvPr/>
        </p:nvGrpSpPr>
        <p:grpSpPr>
          <a:xfrm>
            <a:off x="6995880" y="1505520"/>
            <a:ext cx="4378320" cy="3390840"/>
            <a:chOff x="6995880" y="1505520"/>
            <a:chExt cx="4378320" cy="3390840"/>
          </a:xfrm>
        </p:grpSpPr>
        <p:sp>
          <p:nvSpPr>
            <p:cNvPr id="175" name="Freeform 46"/>
            <p:cNvSpPr/>
            <p:nvPr/>
          </p:nvSpPr>
          <p:spPr>
            <a:xfrm>
              <a:off x="7004160" y="1514160"/>
              <a:ext cx="4361400" cy="337392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3373920"/>
                <a:gd name="textAreaBottom" fmla="*/ 3374280 h 3373920"/>
              </a:gdLst>
              <a:ahLst/>
              <a:cxnLst/>
              <a:rect l="textAreaLeft" t="textAreaTop" r="textAreaRight" b="textAreaBottom"/>
              <a:pathLst>
                <a:path w="3230880" h="2499360">
                  <a:moveTo>
                    <a:pt x="0" y="0"/>
                  </a:moveTo>
                  <a:lnTo>
                    <a:pt x="3230880" y="0"/>
                  </a:lnTo>
                  <a:lnTo>
                    <a:pt x="323088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47"/>
            <p:cNvSpPr/>
            <p:nvPr/>
          </p:nvSpPr>
          <p:spPr>
            <a:xfrm>
              <a:off x="6995880" y="1505520"/>
              <a:ext cx="4378320" cy="3390840"/>
            </a:xfrm>
            <a:custGeom>
              <a:avLst/>
              <a:gdLst>
                <a:gd name="textAreaLeft" fmla="*/ 0 w 4378320"/>
                <a:gd name="textAreaRight" fmla="*/ 4378680 w 4378320"/>
                <a:gd name="textAreaTop" fmla="*/ 0 h 3390840"/>
                <a:gd name="textAreaBottom" fmla="*/ 3391200 h 3390840"/>
              </a:gdLst>
              <a:ahLst/>
              <a:cxnLst/>
              <a:rect l="textAreaLeft" t="textAreaTop" r="textAreaRight" b="textAreaBottom"/>
              <a:pathLst>
                <a:path w="3243580" h="2512060">
                  <a:moveTo>
                    <a:pt x="6350" y="0"/>
                  </a:moveTo>
                  <a:lnTo>
                    <a:pt x="3237230" y="0"/>
                  </a:lnTo>
                  <a:cubicBezTo>
                    <a:pt x="3240786" y="0"/>
                    <a:pt x="3243580" y="2794"/>
                    <a:pt x="3243580" y="6350"/>
                  </a:cubicBezTo>
                  <a:lnTo>
                    <a:pt x="3243580" y="2505710"/>
                  </a:lnTo>
                  <a:cubicBezTo>
                    <a:pt x="3243580" y="2509266"/>
                    <a:pt x="3240786" y="2512060"/>
                    <a:pt x="3237230" y="2512060"/>
                  </a:cubicBezTo>
                  <a:lnTo>
                    <a:pt x="6350" y="2512060"/>
                  </a:lnTo>
                  <a:cubicBezTo>
                    <a:pt x="2794" y="2512060"/>
                    <a:pt x="0" y="2509266"/>
                    <a:pt x="0" y="25057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05710"/>
                  </a:lnTo>
                  <a:lnTo>
                    <a:pt x="6350" y="2505710"/>
                  </a:lnTo>
                  <a:lnTo>
                    <a:pt x="6350" y="2499360"/>
                  </a:lnTo>
                  <a:lnTo>
                    <a:pt x="3237230" y="2499360"/>
                  </a:lnTo>
                  <a:lnTo>
                    <a:pt x="3237230" y="2505710"/>
                  </a:lnTo>
                  <a:lnTo>
                    <a:pt x="3230880" y="2505710"/>
                  </a:lnTo>
                  <a:lnTo>
                    <a:pt x="3230880" y="6350"/>
                  </a:lnTo>
                  <a:lnTo>
                    <a:pt x="3237230" y="6350"/>
                  </a:lnTo>
                  <a:lnTo>
                    <a:pt x="323723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" name="Group 48"/>
          <p:cNvGrpSpPr/>
          <p:nvPr/>
        </p:nvGrpSpPr>
        <p:grpSpPr>
          <a:xfrm>
            <a:off x="7004520" y="1514160"/>
            <a:ext cx="4361400" cy="82080"/>
            <a:chOff x="7004520" y="1514160"/>
            <a:chExt cx="4361400" cy="82080"/>
          </a:xfrm>
        </p:grpSpPr>
        <p:sp>
          <p:nvSpPr>
            <p:cNvPr id="178" name="Freeform 49"/>
            <p:cNvSpPr/>
            <p:nvPr/>
          </p:nvSpPr>
          <p:spPr>
            <a:xfrm>
              <a:off x="7004520" y="1514160"/>
              <a:ext cx="4361400" cy="8208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230880" h="60960">
                  <a:moveTo>
                    <a:pt x="0" y="0"/>
                  </a:moveTo>
                  <a:lnTo>
                    <a:pt x="3230880" y="0"/>
                  </a:lnTo>
                  <a:lnTo>
                    <a:pt x="32308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" name="Group 50"/>
          <p:cNvGrpSpPr/>
          <p:nvPr/>
        </p:nvGrpSpPr>
        <p:grpSpPr>
          <a:xfrm>
            <a:off x="7283520" y="1694520"/>
            <a:ext cx="758160" cy="758160"/>
            <a:chOff x="7283520" y="1694520"/>
            <a:chExt cx="758160" cy="758160"/>
          </a:xfrm>
        </p:grpSpPr>
        <p:sp>
          <p:nvSpPr>
            <p:cNvPr id="180" name="Freeform 51"/>
            <p:cNvSpPr/>
            <p:nvPr/>
          </p:nvSpPr>
          <p:spPr>
            <a:xfrm>
              <a:off x="7300440" y="171180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0D9488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52"/>
            <p:cNvSpPr/>
            <p:nvPr/>
          </p:nvSpPr>
          <p:spPr>
            <a:xfrm>
              <a:off x="7283520" y="1694520"/>
              <a:ext cx="758160" cy="75816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0 h 758160"/>
                <a:gd name="textAreaBottom" fmla="*/ 758520 h 758160"/>
              </a:gdLst>
              <a:ahLst/>
              <a:cxnLst/>
              <a:rect l="textAreaLeft" t="textAreaTop" r="textAreaRight" b="textAreaBottom"/>
              <a:pathLst>
                <a:path w="561848" h="561848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280924" y="12700"/>
                  </a:lnTo>
                  <a:lnTo>
                    <a:pt x="280924" y="0"/>
                  </a:lnTo>
                  <a:cubicBezTo>
                    <a:pt x="436118" y="0"/>
                    <a:pt x="561848" y="125730"/>
                    <a:pt x="561848" y="280924"/>
                  </a:cubicBezTo>
                  <a:lnTo>
                    <a:pt x="549148" y="280924"/>
                  </a:lnTo>
                  <a:lnTo>
                    <a:pt x="561848" y="280924"/>
                  </a:lnTo>
                  <a:cubicBezTo>
                    <a:pt x="561848" y="436118"/>
                    <a:pt x="436118" y="561848"/>
                    <a:pt x="280924" y="561848"/>
                  </a:cubicBezTo>
                  <a:lnTo>
                    <a:pt x="280924" y="549148"/>
                  </a:lnTo>
                  <a:lnTo>
                    <a:pt x="280924" y="561848"/>
                  </a:lnTo>
                  <a:cubicBezTo>
                    <a:pt x="125730" y="561848"/>
                    <a:pt x="0" y="436118"/>
                    <a:pt x="0" y="280924"/>
                  </a:cubicBezTo>
                  <a:lnTo>
                    <a:pt x="12700" y="280924"/>
                  </a:lnTo>
                  <a:lnTo>
                    <a:pt x="25400" y="280924"/>
                  </a:lnTo>
                  <a:lnTo>
                    <a:pt x="12700" y="280924"/>
                  </a:lnTo>
                  <a:lnTo>
                    <a:pt x="0" y="280924"/>
                  </a:lnTo>
                  <a:moveTo>
                    <a:pt x="25400" y="280924"/>
                  </a:moveTo>
                  <a:cubicBezTo>
                    <a:pt x="25400" y="287909"/>
                    <a:pt x="19685" y="293624"/>
                    <a:pt x="12700" y="293624"/>
                  </a:cubicBezTo>
                  <a:cubicBezTo>
                    <a:pt x="5715" y="293624"/>
                    <a:pt x="0" y="287909"/>
                    <a:pt x="0" y="280924"/>
                  </a:cubicBezTo>
                  <a:cubicBezTo>
                    <a:pt x="0" y="273939"/>
                    <a:pt x="5715" y="268224"/>
                    <a:pt x="12700" y="268224"/>
                  </a:cubicBezTo>
                  <a:cubicBezTo>
                    <a:pt x="19685" y="268224"/>
                    <a:pt x="25400" y="273939"/>
                    <a:pt x="25400" y="280924"/>
                  </a:cubicBezTo>
                  <a:cubicBezTo>
                    <a:pt x="25400" y="422021"/>
                    <a:pt x="139827" y="536448"/>
                    <a:pt x="280924" y="536448"/>
                  </a:cubicBezTo>
                  <a:cubicBezTo>
                    <a:pt x="422021" y="536448"/>
                    <a:pt x="536448" y="422021"/>
                    <a:pt x="536448" y="280924"/>
                  </a:cubicBezTo>
                  <a:cubicBezTo>
                    <a:pt x="536448" y="139827"/>
                    <a:pt x="422021" y="25400"/>
                    <a:pt x="280924" y="25400"/>
                  </a:cubicBezTo>
                  <a:lnTo>
                    <a:pt x="280924" y="12700"/>
                  </a:lnTo>
                  <a:lnTo>
                    <a:pt x="280924" y="25400"/>
                  </a:lnTo>
                  <a:cubicBezTo>
                    <a:pt x="139827" y="25400"/>
                    <a:pt x="25400" y="139827"/>
                    <a:pt x="25400" y="280924"/>
                  </a:cubicBezTo>
                  <a:close/>
                </a:path>
              </a:pathLst>
            </a:cu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Group 53"/>
          <p:cNvGrpSpPr/>
          <p:nvPr/>
        </p:nvGrpSpPr>
        <p:grpSpPr>
          <a:xfrm>
            <a:off x="7300440" y="1621800"/>
            <a:ext cx="723960" cy="813960"/>
            <a:chOff x="7300440" y="1621800"/>
            <a:chExt cx="723960" cy="813960"/>
          </a:xfrm>
        </p:grpSpPr>
        <p:sp>
          <p:nvSpPr>
            <p:cNvPr id="183" name="Freeform 54"/>
            <p:cNvSpPr/>
            <p:nvPr/>
          </p:nvSpPr>
          <p:spPr>
            <a:xfrm>
              <a:off x="7300440" y="171180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TextBox 55"/>
            <p:cNvSpPr/>
            <p:nvPr/>
          </p:nvSpPr>
          <p:spPr>
            <a:xfrm>
              <a:off x="7300440" y="1621800"/>
              <a:ext cx="723960" cy="81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671"/>
                </a:lnSpc>
              </a:pPr>
              <a:r>
                <a:rPr lang="en-US" sz="3060" b="0" u="none" strike="noStrike">
                  <a:solidFill>
                    <a:srgbClr val="000000"/>
                  </a:solidFill>
                  <a:effectLst/>
                  <a:uFillTx/>
                  <a:latin typeface="Calibri (MS)"/>
                  <a:ea typeface="Calibri (MS)"/>
                </a:rPr>
                <a:t>✅</a:t>
              </a:r>
              <a:endParaRPr lang="en-IN" sz="30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5" name="Group 56"/>
          <p:cNvGrpSpPr/>
          <p:nvPr/>
        </p:nvGrpSpPr>
        <p:grpSpPr>
          <a:xfrm>
            <a:off x="8238600" y="1702440"/>
            <a:ext cx="2962440" cy="255960"/>
            <a:chOff x="8238600" y="1702440"/>
            <a:chExt cx="2962440" cy="255960"/>
          </a:xfrm>
        </p:grpSpPr>
        <p:sp>
          <p:nvSpPr>
            <p:cNvPr id="186" name="Freeform 57"/>
            <p:cNvSpPr/>
            <p:nvPr/>
          </p:nvSpPr>
          <p:spPr>
            <a:xfrm>
              <a:off x="8238600" y="1728360"/>
              <a:ext cx="2962440" cy="230040"/>
            </a:xfrm>
            <a:custGeom>
              <a:avLst/>
              <a:gdLst>
                <a:gd name="textAreaLeft" fmla="*/ 0 w 2962440"/>
                <a:gd name="textAreaRight" fmla="*/ 2962800 w 296244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2194560" h="170688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Box 58"/>
            <p:cNvSpPr/>
            <p:nvPr/>
          </p:nvSpPr>
          <p:spPr>
            <a:xfrm>
              <a:off x="8238600" y="1702440"/>
              <a:ext cx="2962440" cy="25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03"/>
                </a:lnSpc>
              </a:pPr>
              <a:r>
                <a:rPr lang="en-US" sz="1170" b="1" u="none" spc="269" strike="noStrike">
                  <a:solidFill>
                    <a:srgbClr val="9CA3AF"/>
                  </a:solidFill>
                  <a:effectLst/>
                  <a:uFillTx/>
                  <a:latin typeface="Calibri (MS) Bold"/>
                  <a:ea typeface="Calibri (MS) Bold"/>
                </a:rPr>
                <a:t>FEATURE 02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8" name="Group 59"/>
          <p:cNvGrpSpPr/>
          <p:nvPr/>
        </p:nvGrpSpPr>
        <p:grpSpPr>
          <a:xfrm>
            <a:off x="7300440" y="2424600"/>
            <a:ext cx="3933360" cy="544680"/>
            <a:chOff x="7300440" y="2424600"/>
            <a:chExt cx="3933360" cy="544680"/>
          </a:xfrm>
        </p:grpSpPr>
        <p:sp>
          <p:nvSpPr>
            <p:cNvPr id="189" name="Freeform 60"/>
            <p:cNvSpPr/>
            <p:nvPr/>
          </p:nvSpPr>
          <p:spPr>
            <a:xfrm>
              <a:off x="7300440" y="2501640"/>
              <a:ext cx="3933360" cy="46728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467280"/>
                <a:gd name="textAreaBottom" fmla="*/ 467640 h 467280"/>
              </a:gdLst>
              <a:ahLst/>
              <a:cxnLst/>
              <a:rect l="textAreaLeft" t="textAreaTop" r="textAreaRight" b="textAreaBottom"/>
              <a:pathLst>
                <a:path w="2913888" h="346508">
                  <a:moveTo>
                    <a:pt x="0" y="0"/>
                  </a:moveTo>
                  <a:lnTo>
                    <a:pt x="2913888" y="0"/>
                  </a:lnTo>
                  <a:lnTo>
                    <a:pt x="2913888" y="346508"/>
                  </a:lnTo>
                  <a:lnTo>
                    <a:pt x="0" y="346508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61"/>
            <p:cNvSpPr/>
            <p:nvPr/>
          </p:nvSpPr>
          <p:spPr>
            <a:xfrm>
              <a:off x="7300440" y="2424600"/>
              <a:ext cx="3933360" cy="54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80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2340" b="1" u="none" strike="noStrike">
                  <a:solidFill>
                    <a:srgbClr val="111827"/>
                  </a:solidFill>
                  <a:effectLst/>
                  <a:uFillTx/>
                  <a:latin typeface="Calibri (MS) Bold"/>
                  <a:ea typeface="Calibri (MS) Bold"/>
                </a:rPr>
                <a:t>Zero-Hallucination Formatting </a:t>
              </a:r>
              <a:endParaRPr lang="en-IN" sz="23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" name="Group 62"/>
          <p:cNvGrpSpPr/>
          <p:nvPr/>
        </p:nvGrpSpPr>
        <p:grpSpPr>
          <a:xfrm>
            <a:off x="7300440" y="2957040"/>
            <a:ext cx="3933360" cy="943560"/>
            <a:chOff x="7300440" y="2957040"/>
            <a:chExt cx="3933360" cy="943560"/>
          </a:xfrm>
        </p:grpSpPr>
        <p:sp>
          <p:nvSpPr>
            <p:cNvPr id="192" name="Freeform 63"/>
            <p:cNvSpPr/>
            <p:nvPr/>
          </p:nvSpPr>
          <p:spPr>
            <a:xfrm>
              <a:off x="7300440" y="2995560"/>
              <a:ext cx="3933360" cy="90504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905040"/>
                <a:gd name="textAreaBottom" fmla="*/ 905400 h 905040"/>
              </a:gdLst>
              <a:ahLst/>
              <a:cxnLst/>
              <a:rect l="textAreaLeft" t="textAreaTop" r="textAreaRight" b="textAreaBottom"/>
              <a:pathLst>
                <a:path w="2913888" h="670560">
                  <a:moveTo>
                    <a:pt x="0" y="0"/>
                  </a:moveTo>
                  <a:lnTo>
                    <a:pt x="2913888" y="0"/>
                  </a:lnTo>
                  <a:lnTo>
                    <a:pt x="2913888" y="670560"/>
                  </a:lnTo>
                  <a:lnTo>
                    <a:pt x="0" y="67056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64"/>
            <p:cNvSpPr/>
            <p:nvPr/>
          </p:nvSpPr>
          <p:spPr>
            <a:xfrm>
              <a:off x="7300440" y="2957040"/>
              <a:ext cx="393336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945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620" b="0" u="none" strike="noStrike">
                  <a:solidFill>
                    <a:srgbClr val="6B7280"/>
                  </a:solidFill>
                  <a:effectLst/>
                  <a:uFillTx/>
                  <a:latin typeface="Calibri (MS)"/>
                  <a:ea typeface="Calibri (MS)"/>
                </a:rPr>
                <a:t>LLM reasoning restricted to candidate pools provided by tools. </a:t>
              </a:r>
              <a:endParaRPr lang="en-IN" sz="16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" name="Group 65"/>
          <p:cNvGrpSpPr/>
          <p:nvPr/>
        </p:nvGrpSpPr>
        <p:grpSpPr>
          <a:xfrm>
            <a:off x="7168680" y="4356000"/>
            <a:ext cx="4032000" cy="11160"/>
            <a:chOff x="7168680" y="4356000"/>
            <a:chExt cx="4032000" cy="11160"/>
          </a:xfrm>
        </p:grpSpPr>
        <p:sp>
          <p:nvSpPr>
            <p:cNvPr id="195" name="Freeform 66"/>
            <p:cNvSpPr/>
            <p:nvPr/>
          </p:nvSpPr>
          <p:spPr>
            <a:xfrm>
              <a:off x="7168680" y="4356000"/>
              <a:ext cx="4032000" cy="11160"/>
            </a:xfrm>
            <a:custGeom>
              <a:avLst/>
              <a:gdLst>
                <a:gd name="textAreaLeft" fmla="*/ 0 w 4032000"/>
                <a:gd name="textAreaRight" fmla="*/ 4032360 w 40320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87040" h="8509">
                  <a:moveTo>
                    <a:pt x="0" y="0"/>
                  </a:moveTo>
                  <a:lnTo>
                    <a:pt x="2987040" y="0"/>
                  </a:lnTo>
                  <a:lnTo>
                    <a:pt x="2987040" y="8509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480" rIns="90000" bIns="-334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6" name="Group 67"/>
          <p:cNvGrpSpPr/>
          <p:nvPr/>
        </p:nvGrpSpPr>
        <p:grpSpPr>
          <a:xfrm>
            <a:off x="7428960" y="4441320"/>
            <a:ext cx="1744200" cy="263160"/>
            <a:chOff x="7428960" y="4441320"/>
            <a:chExt cx="1744200" cy="263160"/>
          </a:xfrm>
        </p:grpSpPr>
        <p:sp>
          <p:nvSpPr>
            <p:cNvPr id="197" name="Freeform 68"/>
            <p:cNvSpPr/>
            <p:nvPr/>
          </p:nvSpPr>
          <p:spPr>
            <a:xfrm>
              <a:off x="7428960" y="4441320"/>
              <a:ext cx="1744200" cy="263160"/>
            </a:xfrm>
            <a:custGeom>
              <a:avLst/>
              <a:gdLst>
                <a:gd name="textAreaLeft" fmla="*/ 0 w 1744200"/>
                <a:gd name="textAreaRight" fmla="*/ 1744560 w 174420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292352" h="195072">
                  <a:moveTo>
                    <a:pt x="0" y="48768"/>
                  </a:moveTo>
                  <a:cubicBezTo>
                    <a:pt x="0" y="21844"/>
                    <a:pt x="23368" y="0"/>
                    <a:pt x="52324" y="0"/>
                  </a:cubicBezTo>
                  <a:lnTo>
                    <a:pt x="1240028" y="0"/>
                  </a:lnTo>
                  <a:cubicBezTo>
                    <a:pt x="1268984" y="0"/>
                    <a:pt x="1292352" y="21844"/>
                    <a:pt x="1292352" y="48768"/>
                  </a:cubicBezTo>
                  <a:lnTo>
                    <a:pt x="1292352" y="146304"/>
                  </a:lnTo>
                  <a:cubicBezTo>
                    <a:pt x="1292352" y="173228"/>
                    <a:pt x="1268984" y="195072"/>
                    <a:pt x="1240028" y="195072"/>
                  </a:cubicBezTo>
                  <a:lnTo>
                    <a:pt x="52324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0FD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" name="Group 69"/>
          <p:cNvGrpSpPr/>
          <p:nvPr/>
        </p:nvGrpSpPr>
        <p:grpSpPr>
          <a:xfrm>
            <a:off x="7513920" y="4407120"/>
            <a:ext cx="1554840" cy="304560"/>
            <a:chOff x="7513920" y="4407120"/>
            <a:chExt cx="1554840" cy="304560"/>
          </a:xfrm>
        </p:grpSpPr>
        <p:sp>
          <p:nvSpPr>
            <p:cNvPr id="199" name="Freeform 70"/>
            <p:cNvSpPr/>
            <p:nvPr/>
          </p:nvSpPr>
          <p:spPr>
            <a:xfrm>
              <a:off x="7513920" y="4429800"/>
              <a:ext cx="1554840" cy="281880"/>
            </a:xfrm>
            <a:custGeom>
              <a:avLst/>
              <a:gdLst>
                <a:gd name="textAreaLeft" fmla="*/ 0 w 1554840"/>
                <a:gd name="textAreaRight" fmla="*/ 1555200 w 1554840"/>
                <a:gd name="textAreaTop" fmla="*/ 0 h 281880"/>
                <a:gd name="textAreaBottom" fmla="*/ 282240 h 281880"/>
              </a:gdLst>
              <a:ahLst/>
              <a:cxnLst/>
              <a:rect l="textAreaLeft" t="textAreaTop" r="textAreaRight" b="textAreaBottom"/>
              <a:pathLst>
                <a:path w="1292352" h="234487">
                  <a:moveTo>
                    <a:pt x="0" y="0"/>
                  </a:moveTo>
                  <a:lnTo>
                    <a:pt x="1292352" y="0"/>
                  </a:lnTo>
                  <a:lnTo>
                    <a:pt x="1292352" y="234487"/>
                  </a:lnTo>
                  <a:lnTo>
                    <a:pt x="0" y="234487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TextBox 71"/>
            <p:cNvSpPr/>
            <p:nvPr/>
          </p:nvSpPr>
          <p:spPr>
            <a:xfrm>
              <a:off x="7513920" y="4407120"/>
              <a:ext cx="155484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0F766E"/>
                  </a:solidFill>
                  <a:effectLst/>
                  <a:uFillTx/>
                  <a:latin typeface="Calibri (MS)"/>
                  <a:ea typeface="Calibri (MS)"/>
                </a:rPr>
                <a:t>Prompt Engineering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" name="Group 72"/>
          <p:cNvGrpSpPr/>
          <p:nvPr/>
        </p:nvGrpSpPr>
        <p:grpSpPr>
          <a:xfrm>
            <a:off x="9366840" y="4482360"/>
            <a:ext cx="1572840" cy="237240"/>
            <a:chOff x="9366840" y="4482360"/>
            <a:chExt cx="1572840" cy="237240"/>
          </a:xfrm>
        </p:grpSpPr>
        <p:sp>
          <p:nvSpPr>
            <p:cNvPr id="202" name="Freeform 73"/>
            <p:cNvSpPr/>
            <p:nvPr/>
          </p:nvSpPr>
          <p:spPr>
            <a:xfrm>
              <a:off x="9366840" y="4482360"/>
              <a:ext cx="1572840" cy="237240"/>
            </a:xfrm>
            <a:custGeom>
              <a:avLst/>
              <a:gdLst>
                <a:gd name="textAreaLeft" fmla="*/ 0 w 1572840"/>
                <a:gd name="textAreaRight" fmla="*/ 1573200 w 157284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1292352" h="195072">
                  <a:moveTo>
                    <a:pt x="0" y="48768"/>
                  </a:moveTo>
                  <a:cubicBezTo>
                    <a:pt x="0" y="21844"/>
                    <a:pt x="23368" y="0"/>
                    <a:pt x="52324" y="0"/>
                  </a:cubicBezTo>
                  <a:lnTo>
                    <a:pt x="1240028" y="0"/>
                  </a:lnTo>
                  <a:cubicBezTo>
                    <a:pt x="1268984" y="0"/>
                    <a:pt x="1292352" y="21844"/>
                    <a:pt x="1292352" y="48768"/>
                  </a:cubicBezTo>
                  <a:lnTo>
                    <a:pt x="1292352" y="146304"/>
                  </a:lnTo>
                  <a:cubicBezTo>
                    <a:pt x="1292352" y="173228"/>
                    <a:pt x="1268984" y="195072"/>
                    <a:pt x="1240028" y="195072"/>
                  </a:cubicBezTo>
                  <a:lnTo>
                    <a:pt x="52324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0FD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" name="Group 74"/>
          <p:cNvGrpSpPr/>
          <p:nvPr/>
        </p:nvGrpSpPr>
        <p:grpSpPr>
          <a:xfrm>
            <a:off x="9397800" y="4435560"/>
            <a:ext cx="1693800" cy="280440"/>
            <a:chOff x="9397800" y="4435560"/>
            <a:chExt cx="1693800" cy="280440"/>
          </a:xfrm>
        </p:grpSpPr>
        <p:sp>
          <p:nvSpPr>
            <p:cNvPr id="204" name="Freeform 75"/>
            <p:cNvSpPr/>
            <p:nvPr/>
          </p:nvSpPr>
          <p:spPr>
            <a:xfrm>
              <a:off x="9397800" y="4460400"/>
              <a:ext cx="1693800" cy="255240"/>
            </a:xfrm>
            <a:custGeom>
              <a:avLst/>
              <a:gdLst>
                <a:gd name="textAreaLeft" fmla="*/ 0 w 1693800"/>
                <a:gd name="textAreaRight" fmla="*/ 1694160 w 1693800"/>
                <a:gd name="textAreaTop" fmla="*/ 0 h 255240"/>
                <a:gd name="textAreaBottom" fmla="*/ 255600 h 255240"/>
              </a:gdLst>
              <a:ahLst/>
              <a:cxnLst/>
              <a:rect l="textAreaLeft" t="textAreaTop" r="textAreaRight" b="textAreaBottom"/>
              <a:pathLst>
                <a:path w="1292352" h="195072">
                  <a:moveTo>
                    <a:pt x="0" y="0"/>
                  </a:moveTo>
                  <a:lnTo>
                    <a:pt x="1292352" y="0"/>
                  </a:lnTo>
                  <a:lnTo>
                    <a:pt x="1292352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TextBox 76"/>
            <p:cNvSpPr/>
            <p:nvPr/>
          </p:nvSpPr>
          <p:spPr>
            <a:xfrm>
              <a:off x="9397800" y="4435560"/>
              <a:ext cx="1693800" cy="2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0F766E"/>
                  </a:solidFill>
                  <a:effectLst/>
                  <a:uFillTx/>
                  <a:latin typeface="Calibri (MS)"/>
                  <a:ea typeface="Calibri (MS)"/>
                </a:rPr>
                <a:t>Qwen 1.5B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6" name="Group 77"/>
          <p:cNvGrpSpPr/>
          <p:nvPr/>
        </p:nvGrpSpPr>
        <p:grpSpPr>
          <a:xfrm>
            <a:off x="11936520" y="1343880"/>
            <a:ext cx="4701960" cy="3714120"/>
            <a:chOff x="11936520" y="1343880"/>
            <a:chExt cx="4701960" cy="3714120"/>
          </a:xfrm>
        </p:grpSpPr>
        <p:sp>
          <p:nvSpPr>
            <p:cNvPr id="207" name="Freeform 78"/>
            <p:cNvSpPr/>
            <p:nvPr/>
          </p:nvSpPr>
          <p:spPr>
            <a:xfrm>
              <a:off x="11941920" y="1349640"/>
              <a:ext cx="4690800" cy="3702960"/>
            </a:xfrm>
            <a:custGeom>
              <a:avLst/>
              <a:gdLst>
                <a:gd name="textAreaLeft" fmla="*/ 0 w 4690800"/>
                <a:gd name="textAreaRight" fmla="*/ 4691160 w 4690800"/>
                <a:gd name="textAreaTop" fmla="*/ 0 h 3702960"/>
                <a:gd name="textAreaBottom" fmla="*/ 3703320 h 3702960"/>
              </a:gdLst>
              <a:ahLst/>
              <a:cxnLst/>
              <a:rect l="textAreaLeft" t="textAreaTop" r="textAreaRight" b="textAreaBottom"/>
              <a:pathLst>
                <a:path w="3474847" h="2743200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352800" y="0"/>
                  </a:lnTo>
                  <a:cubicBezTo>
                    <a:pt x="3420110" y="0"/>
                    <a:pt x="3474847" y="54610"/>
                    <a:pt x="3474847" y="121920"/>
                  </a:cubicBezTo>
                  <a:lnTo>
                    <a:pt x="3474847" y="2621280"/>
                  </a:lnTo>
                  <a:cubicBezTo>
                    <a:pt x="3474847" y="2688590"/>
                    <a:pt x="3420237" y="2743200"/>
                    <a:pt x="3352800" y="2743200"/>
                  </a:cubicBezTo>
                  <a:lnTo>
                    <a:pt x="122047" y="2743200"/>
                  </a:lnTo>
                  <a:cubicBezTo>
                    <a:pt x="54737" y="2743200"/>
                    <a:pt x="0" y="2688590"/>
                    <a:pt x="0" y="2621280"/>
                  </a:cubicBezTo>
                  <a:close/>
                </a:path>
              </a:pathLst>
            </a:custGeom>
            <a:solidFill>
              <a:srgbClr val="F2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Freeform 79"/>
            <p:cNvSpPr/>
            <p:nvPr/>
          </p:nvSpPr>
          <p:spPr>
            <a:xfrm>
              <a:off x="11936520" y="1343880"/>
              <a:ext cx="4701960" cy="3714120"/>
            </a:xfrm>
            <a:custGeom>
              <a:avLst/>
              <a:gdLst>
                <a:gd name="textAreaLeft" fmla="*/ 0 w 4701960"/>
                <a:gd name="textAreaRight" fmla="*/ 4702320 w 4701960"/>
                <a:gd name="textAreaTop" fmla="*/ 0 h 3714120"/>
                <a:gd name="textAreaBottom" fmla="*/ 3714480 h 3714120"/>
              </a:gdLst>
              <a:ahLst/>
              <a:cxnLst/>
              <a:rect l="textAreaLeft" t="textAreaTop" r="textAreaRight" b="textAreaBottom"/>
              <a:pathLst>
                <a:path w="3483229" h="2751582">
                  <a:moveTo>
                    <a:pt x="0" y="126111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3356991" y="0"/>
                  </a:lnTo>
                  <a:lnTo>
                    <a:pt x="3356991" y="4191"/>
                  </a:lnTo>
                  <a:lnTo>
                    <a:pt x="3356991" y="0"/>
                  </a:lnTo>
                  <a:cubicBezTo>
                    <a:pt x="3426714" y="0"/>
                    <a:pt x="3483229" y="56515"/>
                    <a:pt x="3483229" y="126111"/>
                  </a:cubicBezTo>
                  <a:lnTo>
                    <a:pt x="3479038" y="126111"/>
                  </a:lnTo>
                  <a:lnTo>
                    <a:pt x="3483229" y="126111"/>
                  </a:lnTo>
                  <a:lnTo>
                    <a:pt x="3483229" y="2625471"/>
                  </a:lnTo>
                  <a:lnTo>
                    <a:pt x="3479038" y="2625471"/>
                  </a:lnTo>
                  <a:lnTo>
                    <a:pt x="3483229" y="2625471"/>
                  </a:lnTo>
                  <a:cubicBezTo>
                    <a:pt x="3483229" y="2695194"/>
                    <a:pt x="3426714" y="2751582"/>
                    <a:pt x="3356991" y="2751582"/>
                  </a:cubicBezTo>
                  <a:lnTo>
                    <a:pt x="3356991" y="2747391"/>
                  </a:lnTo>
                  <a:lnTo>
                    <a:pt x="3356991" y="2751582"/>
                  </a:lnTo>
                  <a:lnTo>
                    <a:pt x="126238" y="2751582"/>
                  </a:lnTo>
                  <a:lnTo>
                    <a:pt x="126238" y="2747391"/>
                  </a:lnTo>
                  <a:lnTo>
                    <a:pt x="126238" y="2751582"/>
                  </a:lnTo>
                  <a:cubicBezTo>
                    <a:pt x="56515" y="2751582"/>
                    <a:pt x="0" y="2695067"/>
                    <a:pt x="0" y="2625471"/>
                  </a:cubicBezTo>
                  <a:lnTo>
                    <a:pt x="0" y="126111"/>
                  </a:lnTo>
                  <a:lnTo>
                    <a:pt x="4191" y="126111"/>
                  </a:lnTo>
                  <a:lnTo>
                    <a:pt x="0" y="126111"/>
                  </a:lnTo>
                  <a:moveTo>
                    <a:pt x="8509" y="126111"/>
                  </a:moveTo>
                  <a:lnTo>
                    <a:pt x="8509" y="2625471"/>
                  </a:lnTo>
                  <a:lnTo>
                    <a:pt x="4191" y="2625471"/>
                  </a:lnTo>
                  <a:lnTo>
                    <a:pt x="8509" y="2625471"/>
                  </a:lnTo>
                  <a:cubicBezTo>
                    <a:pt x="8509" y="2690495"/>
                    <a:pt x="61214" y="2743200"/>
                    <a:pt x="126238" y="2743200"/>
                  </a:cubicBezTo>
                  <a:lnTo>
                    <a:pt x="3356991" y="2743200"/>
                  </a:lnTo>
                  <a:cubicBezTo>
                    <a:pt x="3422015" y="2743200"/>
                    <a:pt x="3474720" y="2690495"/>
                    <a:pt x="3474720" y="2625471"/>
                  </a:cubicBezTo>
                  <a:lnTo>
                    <a:pt x="3474720" y="126111"/>
                  </a:lnTo>
                  <a:cubicBezTo>
                    <a:pt x="3474720" y="61087"/>
                    <a:pt x="3422015" y="8382"/>
                    <a:pt x="3356991" y="8382"/>
                  </a:cubicBezTo>
                  <a:lnTo>
                    <a:pt x="126238" y="8382"/>
                  </a:lnTo>
                  <a:lnTo>
                    <a:pt x="126238" y="4191"/>
                  </a:lnTo>
                  <a:lnTo>
                    <a:pt x="126238" y="8509"/>
                  </a:lnTo>
                  <a:cubicBezTo>
                    <a:pt x="61214" y="8509"/>
                    <a:pt x="8509" y="61214"/>
                    <a:pt x="8509" y="126111"/>
                  </a:cubicBez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9" name="Group 80"/>
          <p:cNvGrpSpPr/>
          <p:nvPr/>
        </p:nvGrpSpPr>
        <p:grpSpPr>
          <a:xfrm>
            <a:off x="12098160" y="1505520"/>
            <a:ext cx="4378320" cy="3390840"/>
            <a:chOff x="12098160" y="1505520"/>
            <a:chExt cx="4378320" cy="3390840"/>
          </a:xfrm>
        </p:grpSpPr>
        <p:sp>
          <p:nvSpPr>
            <p:cNvPr id="210" name="Freeform 81"/>
            <p:cNvSpPr/>
            <p:nvPr/>
          </p:nvSpPr>
          <p:spPr>
            <a:xfrm>
              <a:off x="12106800" y="1514160"/>
              <a:ext cx="4361400" cy="337392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3373920"/>
                <a:gd name="textAreaBottom" fmla="*/ 3374280 h 3373920"/>
              </a:gdLst>
              <a:ahLst/>
              <a:cxnLst/>
              <a:rect l="textAreaLeft" t="textAreaTop" r="textAreaRight" b="textAreaBottom"/>
              <a:pathLst>
                <a:path w="3230880" h="2499360">
                  <a:moveTo>
                    <a:pt x="0" y="0"/>
                  </a:moveTo>
                  <a:lnTo>
                    <a:pt x="3230880" y="0"/>
                  </a:lnTo>
                  <a:lnTo>
                    <a:pt x="323088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eform 82"/>
            <p:cNvSpPr/>
            <p:nvPr/>
          </p:nvSpPr>
          <p:spPr>
            <a:xfrm>
              <a:off x="12098160" y="1505520"/>
              <a:ext cx="4378320" cy="3390840"/>
            </a:xfrm>
            <a:custGeom>
              <a:avLst/>
              <a:gdLst>
                <a:gd name="textAreaLeft" fmla="*/ 0 w 4378320"/>
                <a:gd name="textAreaRight" fmla="*/ 4378680 w 4378320"/>
                <a:gd name="textAreaTop" fmla="*/ 0 h 3390840"/>
                <a:gd name="textAreaBottom" fmla="*/ 3391200 h 3390840"/>
              </a:gdLst>
              <a:ahLst/>
              <a:cxnLst/>
              <a:rect l="textAreaLeft" t="textAreaTop" r="textAreaRight" b="textAreaBottom"/>
              <a:pathLst>
                <a:path w="3243580" h="2512060">
                  <a:moveTo>
                    <a:pt x="6350" y="0"/>
                  </a:moveTo>
                  <a:lnTo>
                    <a:pt x="3237230" y="0"/>
                  </a:lnTo>
                  <a:cubicBezTo>
                    <a:pt x="3240786" y="0"/>
                    <a:pt x="3243580" y="2794"/>
                    <a:pt x="3243580" y="6350"/>
                  </a:cubicBezTo>
                  <a:lnTo>
                    <a:pt x="3243580" y="2505710"/>
                  </a:lnTo>
                  <a:cubicBezTo>
                    <a:pt x="3243580" y="2509266"/>
                    <a:pt x="3240786" y="2512060"/>
                    <a:pt x="3237230" y="2512060"/>
                  </a:cubicBezTo>
                  <a:lnTo>
                    <a:pt x="6350" y="2512060"/>
                  </a:lnTo>
                  <a:cubicBezTo>
                    <a:pt x="2794" y="2512060"/>
                    <a:pt x="0" y="2509266"/>
                    <a:pt x="0" y="25057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05710"/>
                  </a:lnTo>
                  <a:lnTo>
                    <a:pt x="6350" y="2505710"/>
                  </a:lnTo>
                  <a:lnTo>
                    <a:pt x="6350" y="2499360"/>
                  </a:lnTo>
                  <a:lnTo>
                    <a:pt x="3237230" y="2499360"/>
                  </a:lnTo>
                  <a:lnTo>
                    <a:pt x="3237230" y="2505710"/>
                  </a:lnTo>
                  <a:lnTo>
                    <a:pt x="3230880" y="2505710"/>
                  </a:lnTo>
                  <a:lnTo>
                    <a:pt x="3230880" y="6350"/>
                  </a:lnTo>
                  <a:lnTo>
                    <a:pt x="3237230" y="6350"/>
                  </a:lnTo>
                  <a:lnTo>
                    <a:pt x="323723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Group 83"/>
          <p:cNvGrpSpPr/>
          <p:nvPr/>
        </p:nvGrpSpPr>
        <p:grpSpPr>
          <a:xfrm>
            <a:off x="12106800" y="1514160"/>
            <a:ext cx="4361400" cy="82080"/>
            <a:chOff x="12106800" y="1514160"/>
            <a:chExt cx="4361400" cy="82080"/>
          </a:xfrm>
        </p:grpSpPr>
        <p:sp>
          <p:nvSpPr>
            <p:cNvPr id="213" name="Freeform 84"/>
            <p:cNvSpPr/>
            <p:nvPr/>
          </p:nvSpPr>
          <p:spPr>
            <a:xfrm>
              <a:off x="12106800" y="1514160"/>
              <a:ext cx="4361400" cy="8208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230880" h="60960">
                  <a:moveTo>
                    <a:pt x="0" y="0"/>
                  </a:moveTo>
                  <a:lnTo>
                    <a:pt x="3230880" y="0"/>
                  </a:lnTo>
                  <a:lnTo>
                    <a:pt x="32308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F59E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" name="Group 85"/>
          <p:cNvGrpSpPr/>
          <p:nvPr/>
        </p:nvGrpSpPr>
        <p:grpSpPr>
          <a:xfrm>
            <a:off x="12385800" y="1694520"/>
            <a:ext cx="758160" cy="758160"/>
            <a:chOff x="12385800" y="1694520"/>
            <a:chExt cx="758160" cy="758160"/>
          </a:xfrm>
        </p:grpSpPr>
        <p:sp>
          <p:nvSpPr>
            <p:cNvPr id="215" name="Freeform 86"/>
            <p:cNvSpPr/>
            <p:nvPr/>
          </p:nvSpPr>
          <p:spPr>
            <a:xfrm>
              <a:off x="12403080" y="171180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F59E0B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 87"/>
            <p:cNvSpPr/>
            <p:nvPr/>
          </p:nvSpPr>
          <p:spPr>
            <a:xfrm>
              <a:off x="12385800" y="1694520"/>
              <a:ext cx="758160" cy="75816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0 h 758160"/>
                <a:gd name="textAreaBottom" fmla="*/ 758520 h 758160"/>
              </a:gdLst>
              <a:ahLst/>
              <a:cxnLst/>
              <a:rect l="textAreaLeft" t="textAreaTop" r="textAreaRight" b="textAreaBottom"/>
              <a:pathLst>
                <a:path w="561848" h="561848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280924" y="12700"/>
                  </a:lnTo>
                  <a:lnTo>
                    <a:pt x="280924" y="0"/>
                  </a:lnTo>
                  <a:cubicBezTo>
                    <a:pt x="436118" y="0"/>
                    <a:pt x="561848" y="125730"/>
                    <a:pt x="561848" y="280924"/>
                  </a:cubicBezTo>
                  <a:lnTo>
                    <a:pt x="549148" y="280924"/>
                  </a:lnTo>
                  <a:lnTo>
                    <a:pt x="561848" y="280924"/>
                  </a:lnTo>
                  <a:cubicBezTo>
                    <a:pt x="561848" y="436118"/>
                    <a:pt x="436118" y="561848"/>
                    <a:pt x="280924" y="561848"/>
                  </a:cubicBezTo>
                  <a:lnTo>
                    <a:pt x="280924" y="549148"/>
                  </a:lnTo>
                  <a:lnTo>
                    <a:pt x="280924" y="561848"/>
                  </a:lnTo>
                  <a:cubicBezTo>
                    <a:pt x="125730" y="561848"/>
                    <a:pt x="0" y="436118"/>
                    <a:pt x="0" y="280924"/>
                  </a:cubicBezTo>
                  <a:lnTo>
                    <a:pt x="12700" y="280924"/>
                  </a:lnTo>
                  <a:lnTo>
                    <a:pt x="25400" y="280924"/>
                  </a:lnTo>
                  <a:lnTo>
                    <a:pt x="12700" y="280924"/>
                  </a:lnTo>
                  <a:lnTo>
                    <a:pt x="0" y="280924"/>
                  </a:lnTo>
                  <a:moveTo>
                    <a:pt x="25400" y="280924"/>
                  </a:moveTo>
                  <a:cubicBezTo>
                    <a:pt x="25400" y="287909"/>
                    <a:pt x="19685" y="293624"/>
                    <a:pt x="12700" y="293624"/>
                  </a:cubicBezTo>
                  <a:cubicBezTo>
                    <a:pt x="5715" y="293624"/>
                    <a:pt x="0" y="287909"/>
                    <a:pt x="0" y="280924"/>
                  </a:cubicBezTo>
                  <a:cubicBezTo>
                    <a:pt x="0" y="273939"/>
                    <a:pt x="5715" y="268224"/>
                    <a:pt x="12700" y="268224"/>
                  </a:cubicBezTo>
                  <a:cubicBezTo>
                    <a:pt x="19685" y="268224"/>
                    <a:pt x="25400" y="273939"/>
                    <a:pt x="25400" y="280924"/>
                  </a:cubicBezTo>
                  <a:cubicBezTo>
                    <a:pt x="25400" y="422021"/>
                    <a:pt x="139827" y="536448"/>
                    <a:pt x="280924" y="536448"/>
                  </a:cubicBezTo>
                  <a:cubicBezTo>
                    <a:pt x="422021" y="536448"/>
                    <a:pt x="536448" y="422021"/>
                    <a:pt x="536448" y="280924"/>
                  </a:cubicBezTo>
                  <a:cubicBezTo>
                    <a:pt x="536448" y="139827"/>
                    <a:pt x="422021" y="25400"/>
                    <a:pt x="280924" y="25400"/>
                  </a:cubicBezTo>
                  <a:lnTo>
                    <a:pt x="280924" y="12700"/>
                  </a:lnTo>
                  <a:lnTo>
                    <a:pt x="280924" y="25400"/>
                  </a:lnTo>
                  <a:cubicBezTo>
                    <a:pt x="139827" y="25400"/>
                    <a:pt x="25400" y="139827"/>
                    <a:pt x="25400" y="280924"/>
                  </a:cubicBezTo>
                  <a:close/>
                </a:path>
              </a:pathLst>
            </a:custGeom>
            <a:solidFill>
              <a:srgbClr val="F59E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" name="Group 88"/>
          <p:cNvGrpSpPr/>
          <p:nvPr/>
        </p:nvGrpSpPr>
        <p:grpSpPr>
          <a:xfrm>
            <a:off x="12403080" y="1621800"/>
            <a:ext cx="723960" cy="813960"/>
            <a:chOff x="12403080" y="1621800"/>
            <a:chExt cx="723960" cy="813960"/>
          </a:xfrm>
        </p:grpSpPr>
        <p:sp>
          <p:nvSpPr>
            <p:cNvPr id="218" name="Freeform 89"/>
            <p:cNvSpPr/>
            <p:nvPr/>
          </p:nvSpPr>
          <p:spPr>
            <a:xfrm>
              <a:off x="12403080" y="171180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90"/>
            <p:cNvSpPr/>
            <p:nvPr/>
          </p:nvSpPr>
          <p:spPr>
            <a:xfrm>
              <a:off x="12403080" y="1621800"/>
              <a:ext cx="723960" cy="81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671"/>
                </a:lnSpc>
              </a:pPr>
              <a:r>
                <a:rPr lang="en-US" sz="3060" b="0" u="none" strike="noStrike">
                  <a:solidFill>
                    <a:srgbClr val="000000"/>
                  </a:solidFill>
                  <a:effectLst/>
                  <a:uFillTx/>
                  <a:latin typeface="Calibri (MS)"/>
                  <a:ea typeface="Calibri (MS)"/>
                </a:rPr>
                <a:t>🖼️</a:t>
              </a:r>
              <a:endParaRPr lang="en-IN" sz="30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0" name="Group 91"/>
          <p:cNvGrpSpPr/>
          <p:nvPr/>
        </p:nvGrpSpPr>
        <p:grpSpPr>
          <a:xfrm>
            <a:off x="13341240" y="1702440"/>
            <a:ext cx="2962440" cy="255960"/>
            <a:chOff x="13341240" y="1702440"/>
            <a:chExt cx="2962440" cy="255960"/>
          </a:xfrm>
        </p:grpSpPr>
        <p:sp>
          <p:nvSpPr>
            <p:cNvPr id="221" name="Freeform 92"/>
            <p:cNvSpPr/>
            <p:nvPr/>
          </p:nvSpPr>
          <p:spPr>
            <a:xfrm>
              <a:off x="13341240" y="1728360"/>
              <a:ext cx="2962440" cy="230040"/>
            </a:xfrm>
            <a:custGeom>
              <a:avLst/>
              <a:gdLst>
                <a:gd name="textAreaLeft" fmla="*/ 0 w 2962440"/>
                <a:gd name="textAreaRight" fmla="*/ 2962800 w 296244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2194560" h="170688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93"/>
            <p:cNvSpPr/>
            <p:nvPr/>
          </p:nvSpPr>
          <p:spPr>
            <a:xfrm>
              <a:off x="13341240" y="1702440"/>
              <a:ext cx="2962440" cy="25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03"/>
                </a:lnSpc>
              </a:pPr>
              <a:r>
                <a:rPr lang="en-US" sz="1170" b="1" u="none" spc="269" strike="noStrike">
                  <a:solidFill>
                    <a:srgbClr val="9CA3AF"/>
                  </a:solidFill>
                  <a:effectLst/>
                  <a:uFillTx/>
                  <a:latin typeface="Calibri (MS) Bold"/>
                  <a:ea typeface="Calibri (MS) Bold"/>
                </a:rPr>
                <a:t>FEATURE 03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" name="Group 94"/>
          <p:cNvGrpSpPr/>
          <p:nvPr/>
        </p:nvGrpSpPr>
        <p:grpSpPr>
          <a:xfrm>
            <a:off x="12403080" y="2424600"/>
            <a:ext cx="3933360" cy="544680"/>
            <a:chOff x="12403080" y="2424600"/>
            <a:chExt cx="3933360" cy="544680"/>
          </a:xfrm>
        </p:grpSpPr>
        <p:sp>
          <p:nvSpPr>
            <p:cNvPr id="224" name="Freeform 95"/>
            <p:cNvSpPr/>
            <p:nvPr/>
          </p:nvSpPr>
          <p:spPr>
            <a:xfrm>
              <a:off x="12403080" y="2501640"/>
              <a:ext cx="3933360" cy="46728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467280"/>
                <a:gd name="textAreaBottom" fmla="*/ 467640 h 467280"/>
              </a:gdLst>
              <a:ahLst/>
              <a:cxnLst/>
              <a:rect l="textAreaLeft" t="textAreaTop" r="textAreaRight" b="textAreaBottom"/>
              <a:pathLst>
                <a:path w="2913888" h="346508">
                  <a:moveTo>
                    <a:pt x="0" y="0"/>
                  </a:moveTo>
                  <a:lnTo>
                    <a:pt x="2913888" y="0"/>
                  </a:lnTo>
                  <a:lnTo>
                    <a:pt x="2913888" y="346508"/>
                  </a:lnTo>
                  <a:lnTo>
                    <a:pt x="0" y="346508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TextBox 96"/>
            <p:cNvSpPr/>
            <p:nvPr/>
          </p:nvSpPr>
          <p:spPr>
            <a:xfrm>
              <a:off x="12403080" y="2424600"/>
              <a:ext cx="3933360" cy="54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80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2340" b="1" u="none" strike="noStrike">
                  <a:solidFill>
                    <a:srgbClr val="111827"/>
                  </a:solidFill>
                  <a:effectLst/>
                  <a:uFillTx/>
                  <a:latin typeface="Calibri (MS) Bold"/>
                  <a:ea typeface="Calibri (MS) Bold"/>
                </a:rPr>
                <a:t>Interactive Storefront </a:t>
              </a:r>
              <a:endParaRPr lang="en-IN" sz="23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6" name="Group 97"/>
          <p:cNvGrpSpPr/>
          <p:nvPr/>
        </p:nvGrpSpPr>
        <p:grpSpPr>
          <a:xfrm>
            <a:off x="12403080" y="2957040"/>
            <a:ext cx="3933360" cy="943560"/>
            <a:chOff x="12403080" y="2957040"/>
            <a:chExt cx="3933360" cy="943560"/>
          </a:xfrm>
        </p:grpSpPr>
        <p:sp>
          <p:nvSpPr>
            <p:cNvPr id="227" name="Freeform 98"/>
            <p:cNvSpPr/>
            <p:nvPr/>
          </p:nvSpPr>
          <p:spPr>
            <a:xfrm>
              <a:off x="12403080" y="2995560"/>
              <a:ext cx="3933360" cy="90504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905040"/>
                <a:gd name="textAreaBottom" fmla="*/ 905400 h 905040"/>
              </a:gdLst>
              <a:ahLst/>
              <a:cxnLst/>
              <a:rect l="textAreaLeft" t="textAreaTop" r="textAreaRight" b="textAreaBottom"/>
              <a:pathLst>
                <a:path w="2913888" h="670560">
                  <a:moveTo>
                    <a:pt x="0" y="0"/>
                  </a:moveTo>
                  <a:lnTo>
                    <a:pt x="2913888" y="0"/>
                  </a:lnTo>
                  <a:lnTo>
                    <a:pt x="2913888" y="670560"/>
                  </a:lnTo>
                  <a:lnTo>
                    <a:pt x="0" y="67056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TextBox 99"/>
            <p:cNvSpPr/>
            <p:nvPr/>
          </p:nvSpPr>
          <p:spPr>
            <a:xfrm>
              <a:off x="12403080" y="2957040"/>
              <a:ext cx="393336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945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620" b="0" u="none" strike="noStrike">
                  <a:solidFill>
                    <a:srgbClr val="6B7280"/>
                  </a:solidFill>
                  <a:effectLst/>
                  <a:uFillTx/>
                  <a:latin typeface="Calibri (MS)"/>
                  <a:ea typeface="Calibri (MS)"/>
                </a:rPr>
                <a:t>A premium product card grid with instant "Add to Cart" engagement. </a:t>
              </a:r>
              <a:endParaRPr lang="en-IN" sz="16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9" name="Group 100"/>
          <p:cNvGrpSpPr/>
          <p:nvPr/>
        </p:nvGrpSpPr>
        <p:grpSpPr>
          <a:xfrm>
            <a:off x="12271320" y="4356000"/>
            <a:ext cx="4032000" cy="11160"/>
            <a:chOff x="12271320" y="4356000"/>
            <a:chExt cx="4032000" cy="11160"/>
          </a:xfrm>
        </p:grpSpPr>
        <p:sp>
          <p:nvSpPr>
            <p:cNvPr id="230" name="Freeform 101"/>
            <p:cNvSpPr/>
            <p:nvPr/>
          </p:nvSpPr>
          <p:spPr>
            <a:xfrm>
              <a:off x="12271320" y="4356000"/>
              <a:ext cx="4032000" cy="11160"/>
            </a:xfrm>
            <a:custGeom>
              <a:avLst/>
              <a:gdLst>
                <a:gd name="textAreaLeft" fmla="*/ 0 w 4032000"/>
                <a:gd name="textAreaRight" fmla="*/ 4032360 w 40320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87040" h="8509">
                  <a:moveTo>
                    <a:pt x="0" y="0"/>
                  </a:moveTo>
                  <a:lnTo>
                    <a:pt x="2987040" y="0"/>
                  </a:lnTo>
                  <a:lnTo>
                    <a:pt x="2987040" y="8509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480" rIns="90000" bIns="-334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1" name="Group 107"/>
          <p:cNvGrpSpPr/>
          <p:nvPr/>
        </p:nvGrpSpPr>
        <p:grpSpPr>
          <a:xfrm>
            <a:off x="12618000" y="4449240"/>
            <a:ext cx="1366560" cy="263160"/>
            <a:chOff x="12618000" y="4449240"/>
            <a:chExt cx="1366560" cy="263160"/>
          </a:xfrm>
        </p:grpSpPr>
        <p:sp>
          <p:nvSpPr>
            <p:cNvPr id="232" name="Freeform 108"/>
            <p:cNvSpPr/>
            <p:nvPr/>
          </p:nvSpPr>
          <p:spPr>
            <a:xfrm>
              <a:off x="12618000" y="4449240"/>
              <a:ext cx="1366560" cy="263160"/>
            </a:xfrm>
            <a:custGeom>
              <a:avLst/>
              <a:gdLst>
                <a:gd name="textAreaLeft" fmla="*/ 0 w 1366560"/>
                <a:gd name="textAreaRight" fmla="*/ 1366920 w 136656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012506" h="195072">
                  <a:moveTo>
                    <a:pt x="0" y="48768"/>
                  </a:moveTo>
                  <a:cubicBezTo>
                    <a:pt x="0" y="21844"/>
                    <a:pt x="18308" y="0"/>
                    <a:pt x="40994" y="0"/>
                  </a:cubicBezTo>
                  <a:lnTo>
                    <a:pt x="971513" y="0"/>
                  </a:lnTo>
                  <a:cubicBezTo>
                    <a:pt x="994198" y="0"/>
                    <a:pt x="1012506" y="21844"/>
                    <a:pt x="1012506" y="48768"/>
                  </a:cubicBezTo>
                  <a:lnTo>
                    <a:pt x="1012506" y="146304"/>
                  </a:lnTo>
                  <a:cubicBezTo>
                    <a:pt x="1012506" y="173228"/>
                    <a:pt x="994198" y="195072"/>
                    <a:pt x="971513" y="195072"/>
                  </a:cubicBezTo>
                  <a:lnTo>
                    <a:pt x="40994" y="195072"/>
                  </a:lnTo>
                  <a:cubicBezTo>
                    <a:pt x="1830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FF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3" name="Group 109"/>
          <p:cNvGrpSpPr/>
          <p:nvPr/>
        </p:nvGrpSpPr>
        <p:grpSpPr>
          <a:xfrm>
            <a:off x="12618000" y="4433760"/>
            <a:ext cx="1515240" cy="301320"/>
            <a:chOff x="12618000" y="4433760"/>
            <a:chExt cx="1515240" cy="301320"/>
          </a:xfrm>
        </p:grpSpPr>
        <p:sp>
          <p:nvSpPr>
            <p:cNvPr id="234" name="Freeform 110"/>
            <p:cNvSpPr/>
            <p:nvPr/>
          </p:nvSpPr>
          <p:spPr>
            <a:xfrm>
              <a:off x="12618000" y="4460400"/>
              <a:ext cx="1515240" cy="274320"/>
            </a:xfrm>
            <a:custGeom>
              <a:avLst/>
              <a:gdLst>
                <a:gd name="textAreaLeft" fmla="*/ 0 w 1515240"/>
                <a:gd name="textAreaRight" fmla="*/ 1515600 w 151524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1075896" h="195072">
                  <a:moveTo>
                    <a:pt x="0" y="0"/>
                  </a:moveTo>
                  <a:lnTo>
                    <a:pt x="1075896" y="0"/>
                  </a:lnTo>
                  <a:lnTo>
                    <a:pt x="1075896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TextBox 111"/>
            <p:cNvSpPr/>
            <p:nvPr/>
          </p:nvSpPr>
          <p:spPr>
            <a:xfrm>
              <a:off x="12618000" y="4433760"/>
              <a:ext cx="15152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B45309"/>
                  </a:solidFill>
                  <a:effectLst/>
                  <a:uFillTx/>
                  <a:latin typeface="Calibri (MS)"/>
                  <a:ea typeface="Calibri (MS)"/>
                </a:rPr>
                <a:t> Streamlit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" name="Group 112"/>
          <p:cNvGrpSpPr/>
          <p:nvPr/>
        </p:nvGrpSpPr>
        <p:grpSpPr>
          <a:xfrm>
            <a:off x="14308560" y="4471920"/>
            <a:ext cx="1510920" cy="263160"/>
            <a:chOff x="14308560" y="4471920"/>
            <a:chExt cx="1510920" cy="263160"/>
          </a:xfrm>
        </p:grpSpPr>
        <p:sp>
          <p:nvSpPr>
            <p:cNvPr id="237" name="Freeform 113"/>
            <p:cNvSpPr/>
            <p:nvPr/>
          </p:nvSpPr>
          <p:spPr>
            <a:xfrm>
              <a:off x="14308560" y="4471920"/>
              <a:ext cx="1510920" cy="26316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119492" h="195072">
                  <a:moveTo>
                    <a:pt x="0" y="48768"/>
                  </a:moveTo>
                  <a:cubicBezTo>
                    <a:pt x="0" y="21844"/>
                    <a:pt x="26028" y="0"/>
                    <a:pt x="58315" y="0"/>
                  </a:cubicBezTo>
                  <a:lnTo>
                    <a:pt x="1061178" y="0"/>
                  </a:lnTo>
                  <a:cubicBezTo>
                    <a:pt x="1093464" y="0"/>
                    <a:pt x="1119492" y="21844"/>
                    <a:pt x="1119492" y="48768"/>
                  </a:cubicBezTo>
                  <a:lnTo>
                    <a:pt x="1119492" y="146304"/>
                  </a:lnTo>
                  <a:cubicBezTo>
                    <a:pt x="1119492" y="173228"/>
                    <a:pt x="1093322" y="195072"/>
                    <a:pt x="1061178" y="195072"/>
                  </a:cubicBezTo>
                  <a:lnTo>
                    <a:pt x="58315" y="195072"/>
                  </a:lnTo>
                  <a:cubicBezTo>
                    <a:pt x="2602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FF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8" name="Group 114"/>
          <p:cNvGrpSpPr/>
          <p:nvPr/>
        </p:nvGrpSpPr>
        <p:grpSpPr>
          <a:xfrm>
            <a:off x="14376600" y="4446000"/>
            <a:ext cx="1349280" cy="288720"/>
            <a:chOff x="14376600" y="4446000"/>
            <a:chExt cx="1349280" cy="288720"/>
          </a:xfrm>
        </p:grpSpPr>
        <p:sp>
          <p:nvSpPr>
            <p:cNvPr id="239" name="Freeform 115"/>
            <p:cNvSpPr/>
            <p:nvPr/>
          </p:nvSpPr>
          <p:spPr>
            <a:xfrm>
              <a:off x="14376600" y="4471920"/>
              <a:ext cx="1349280" cy="262800"/>
            </a:xfrm>
            <a:custGeom>
              <a:avLst/>
              <a:gdLst>
                <a:gd name="textAreaLeft" fmla="*/ 0 w 1349280"/>
                <a:gd name="textAreaRight" fmla="*/ 1349640 w 1349280"/>
                <a:gd name="textAreaTop" fmla="*/ 0 h 262800"/>
                <a:gd name="textAreaBottom" fmla="*/ 263160 h 262800"/>
              </a:gdLst>
              <a:ahLst/>
              <a:cxnLst/>
              <a:rect l="textAreaLeft" t="textAreaTop" r="textAreaRight" b="textAreaBottom"/>
              <a:pathLst>
                <a:path w="999744" h="195066">
                  <a:moveTo>
                    <a:pt x="0" y="0"/>
                  </a:moveTo>
                  <a:lnTo>
                    <a:pt x="999744" y="0"/>
                  </a:lnTo>
                  <a:lnTo>
                    <a:pt x="999744" y="195066"/>
                  </a:lnTo>
                  <a:lnTo>
                    <a:pt x="0" y="195066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TextBox 116"/>
            <p:cNvSpPr/>
            <p:nvPr/>
          </p:nvSpPr>
          <p:spPr>
            <a:xfrm>
              <a:off x="14376600" y="4446000"/>
              <a:ext cx="1349280" cy="28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B45309"/>
                  </a:solidFill>
                  <a:effectLst/>
                  <a:uFillTx/>
                  <a:latin typeface="Calibri (MS)"/>
                  <a:ea typeface="Calibri (MS)"/>
                </a:rPr>
                <a:t>Glassmorphism CSS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1" name="Group 117"/>
          <p:cNvGrpSpPr/>
          <p:nvPr/>
        </p:nvGrpSpPr>
        <p:grpSpPr>
          <a:xfrm>
            <a:off x="1731600" y="5376600"/>
            <a:ext cx="4701960" cy="3714120"/>
            <a:chOff x="1731600" y="5376600"/>
            <a:chExt cx="4701960" cy="3714120"/>
          </a:xfrm>
        </p:grpSpPr>
        <p:sp>
          <p:nvSpPr>
            <p:cNvPr id="242" name="Freeform 118"/>
            <p:cNvSpPr/>
            <p:nvPr/>
          </p:nvSpPr>
          <p:spPr>
            <a:xfrm>
              <a:off x="1737360" y="5382000"/>
              <a:ext cx="4690800" cy="3702960"/>
            </a:xfrm>
            <a:custGeom>
              <a:avLst/>
              <a:gdLst>
                <a:gd name="textAreaLeft" fmla="*/ 0 w 4690800"/>
                <a:gd name="textAreaRight" fmla="*/ 4691160 w 4690800"/>
                <a:gd name="textAreaTop" fmla="*/ 0 h 3702960"/>
                <a:gd name="textAreaBottom" fmla="*/ 3703320 h 3702960"/>
              </a:gdLst>
              <a:ahLst/>
              <a:cxnLst/>
              <a:rect l="textAreaLeft" t="textAreaTop" r="textAreaRight" b="textAreaBottom"/>
              <a:pathLst>
                <a:path w="3474847" h="2743200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352800" y="0"/>
                  </a:lnTo>
                  <a:cubicBezTo>
                    <a:pt x="3420110" y="0"/>
                    <a:pt x="3474847" y="54610"/>
                    <a:pt x="3474847" y="121920"/>
                  </a:cubicBezTo>
                  <a:lnTo>
                    <a:pt x="3474847" y="2621280"/>
                  </a:lnTo>
                  <a:cubicBezTo>
                    <a:pt x="3474847" y="2688590"/>
                    <a:pt x="3420237" y="2743200"/>
                    <a:pt x="3352800" y="2743200"/>
                  </a:cubicBezTo>
                  <a:lnTo>
                    <a:pt x="122047" y="2743200"/>
                  </a:lnTo>
                  <a:cubicBezTo>
                    <a:pt x="54737" y="2743200"/>
                    <a:pt x="0" y="2688590"/>
                    <a:pt x="0" y="2621280"/>
                  </a:cubicBezTo>
                  <a:close/>
                </a:path>
              </a:pathLst>
            </a:custGeom>
            <a:solidFill>
              <a:srgbClr val="F2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19"/>
            <p:cNvSpPr/>
            <p:nvPr/>
          </p:nvSpPr>
          <p:spPr>
            <a:xfrm>
              <a:off x="1731600" y="5376600"/>
              <a:ext cx="4701960" cy="3714120"/>
            </a:xfrm>
            <a:custGeom>
              <a:avLst/>
              <a:gdLst>
                <a:gd name="textAreaLeft" fmla="*/ 0 w 4701960"/>
                <a:gd name="textAreaRight" fmla="*/ 4702320 w 4701960"/>
                <a:gd name="textAreaTop" fmla="*/ 0 h 3714120"/>
                <a:gd name="textAreaBottom" fmla="*/ 3714480 h 3714120"/>
              </a:gdLst>
              <a:ahLst/>
              <a:cxnLst/>
              <a:rect l="textAreaLeft" t="textAreaTop" r="textAreaRight" b="textAreaBottom"/>
              <a:pathLst>
                <a:path w="3483229" h="2751582">
                  <a:moveTo>
                    <a:pt x="0" y="126111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3356991" y="0"/>
                  </a:lnTo>
                  <a:lnTo>
                    <a:pt x="3356991" y="4191"/>
                  </a:lnTo>
                  <a:lnTo>
                    <a:pt x="3356991" y="0"/>
                  </a:lnTo>
                  <a:cubicBezTo>
                    <a:pt x="3426714" y="0"/>
                    <a:pt x="3483229" y="56515"/>
                    <a:pt x="3483229" y="126111"/>
                  </a:cubicBezTo>
                  <a:lnTo>
                    <a:pt x="3479038" y="126111"/>
                  </a:lnTo>
                  <a:lnTo>
                    <a:pt x="3483229" y="126111"/>
                  </a:lnTo>
                  <a:lnTo>
                    <a:pt x="3483229" y="2625471"/>
                  </a:lnTo>
                  <a:lnTo>
                    <a:pt x="3479038" y="2625471"/>
                  </a:lnTo>
                  <a:lnTo>
                    <a:pt x="3483229" y="2625471"/>
                  </a:lnTo>
                  <a:cubicBezTo>
                    <a:pt x="3483229" y="2695194"/>
                    <a:pt x="3426714" y="2751582"/>
                    <a:pt x="3356991" y="2751582"/>
                  </a:cubicBezTo>
                  <a:lnTo>
                    <a:pt x="3356991" y="2747391"/>
                  </a:lnTo>
                  <a:lnTo>
                    <a:pt x="3356991" y="2751582"/>
                  </a:lnTo>
                  <a:lnTo>
                    <a:pt x="126238" y="2751582"/>
                  </a:lnTo>
                  <a:lnTo>
                    <a:pt x="126238" y="2747391"/>
                  </a:lnTo>
                  <a:lnTo>
                    <a:pt x="126238" y="2751582"/>
                  </a:lnTo>
                  <a:cubicBezTo>
                    <a:pt x="56515" y="2751582"/>
                    <a:pt x="0" y="2695067"/>
                    <a:pt x="0" y="2625471"/>
                  </a:cubicBezTo>
                  <a:lnTo>
                    <a:pt x="0" y="126111"/>
                  </a:lnTo>
                  <a:lnTo>
                    <a:pt x="4191" y="126111"/>
                  </a:lnTo>
                  <a:lnTo>
                    <a:pt x="0" y="126111"/>
                  </a:lnTo>
                  <a:moveTo>
                    <a:pt x="8509" y="126111"/>
                  </a:moveTo>
                  <a:lnTo>
                    <a:pt x="8509" y="2625471"/>
                  </a:lnTo>
                  <a:lnTo>
                    <a:pt x="4191" y="2625471"/>
                  </a:lnTo>
                  <a:lnTo>
                    <a:pt x="8509" y="2625471"/>
                  </a:lnTo>
                  <a:cubicBezTo>
                    <a:pt x="8509" y="2690495"/>
                    <a:pt x="61214" y="2743200"/>
                    <a:pt x="126238" y="2743200"/>
                  </a:cubicBezTo>
                  <a:lnTo>
                    <a:pt x="3356991" y="2743200"/>
                  </a:lnTo>
                  <a:cubicBezTo>
                    <a:pt x="3422015" y="2743200"/>
                    <a:pt x="3474720" y="2690495"/>
                    <a:pt x="3474720" y="2625471"/>
                  </a:cubicBezTo>
                  <a:lnTo>
                    <a:pt x="3474720" y="126111"/>
                  </a:lnTo>
                  <a:cubicBezTo>
                    <a:pt x="3474720" y="61087"/>
                    <a:pt x="3422015" y="8382"/>
                    <a:pt x="3356991" y="8382"/>
                  </a:cubicBezTo>
                  <a:lnTo>
                    <a:pt x="126238" y="8382"/>
                  </a:lnTo>
                  <a:lnTo>
                    <a:pt x="126238" y="4191"/>
                  </a:lnTo>
                  <a:lnTo>
                    <a:pt x="126238" y="8509"/>
                  </a:lnTo>
                  <a:cubicBezTo>
                    <a:pt x="61214" y="8509"/>
                    <a:pt x="8509" y="61214"/>
                    <a:pt x="8509" y="126111"/>
                  </a:cubicBez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4" name="Group 120"/>
          <p:cNvGrpSpPr/>
          <p:nvPr/>
        </p:nvGrpSpPr>
        <p:grpSpPr>
          <a:xfrm>
            <a:off x="1893240" y="5538240"/>
            <a:ext cx="4378320" cy="3390840"/>
            <a:chOff x="1893240" y="5538240"/>
            <a:chExt cx="4378320" cy="3390840"/>
          </a:xfrm>
        </p:grpSpPr>
        <p:sp>
          <p:nvSpPr>
            <p:cNvPr id="245" name="Freeform 121"/>
            <p:cNvSpPr/>
            <p:nvPr/>
          </p:nvSpPr>
          <p:spPr>
            <a:xfrm>
              <a:off x="1901880" y="5546880"/>
              <a:ext cx="4361400" cy="337392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3373920"/>
                <a:gd name="textAreaBottom" fmla="*/ 3374280 h 3373920"/>
              </a:gdLst>
              <a:ahLst/>
              <a:cxnLst/>
              <a:rect l="textAreaLeft" t="textAreaTop" r="textAreaRight" b="textAreaBottom"/>
              <a:pathLst>
                <a:path w="3230880" h="2499360">
                  <a:moveTo>
                    <a:pt x="0" y="0"/>
                  </a:moveTo>
                  <a:lnTo>
                    <a:pt x="3230880" y="0"/>
                  </a:lnTo>
                  <a:lnTo>
                    <a:pt x="323088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 122"/>
            <p:cNvSpPr/>
            <p:nvPr/>
          </p:nvSpPr>
          <p:spPr>
            <a:xfrm>
              <a:off x="1893240" y="5538240"/>
              <a:ext cx="4378320" cy="3390840"/>
            </a:xfrm>
            <a:custGeom>
              <a:avLst/>
              <a:gdLst>
                <a:gd name="textAreaLeft" fmla="*/ 0 w 4378320"/>
                <a:gd name="textAreaRight" fmla="*/ 4378680 w 4378320"/>
                <a:gd name="textAreaTop" fmla="*/ 0 h 3390840"/>
                <a:gd name="textAreaBottom" fmla="*/ 3391200 h 3390840"/>
              </a:gdLst>
              <a:ahLst/>
              <a:cxnLst/>
              <a:rect l="textAreaLeft" t="textAreaTop" r="textAreaRight" b="textAreaBottom"/>
              <a:pathLst>
                <a:path w="3243580" h="2512060">
                  <a:moveTo>
                    <a:pt x="6350" y="0"/>
                  </a:moveTo>
                  <a:lnTo>
                    <a:pt x="3237230" y="0"/>
                  </a:lnTo>
                  <a:cubicBezTo>
                    <a:pt x="3240786" y="0"/>
                    <a:pt x="3243580" y="2794"/>
                    <a:pt x="3243580" y="6350"/>
                  </a:cubicBezTo>
                  <a:lnTo>
                    <a:pt x="3243580" y="2505710"/>
                  </a:lnTo>
                  <a:cubicBezTo>
                    <a:pt x="3243580" y="2509266"/>
                    <a:pt x="3240786" y="2512060"/>
                    <a:pt x="3237230" y="2512060"/>
                  </a:cubicBezTo>
                  <a:lnTo>
                    <a:pt x="6350" y="2512060"/>
                  </a:lnTo>
                  <a:cubicBezTo>
                    <a:pt x="2794" y="2512060"/>
                    <a:pt x="0" y="2509266"/>
                    <a:pt x="0" y="25057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05710"/>
                  </a:lnTo>
                  <a:lnTo>
                    <a:pt x="6350" y="2505710"/>
                  </a:lnTo>
                  <a:lnTo>
                    <a:pt x="6350" y="2499360"/>
                  </a:lnTo>
                  <a:lnTo>
                    <a:pt x="3237230" y="2499360"/>
                  </a:lnTo>
                  <a:lnTo>
                    <a:pt x="3237230" y="2505710"/>
                  </a:lnTo>
                  <a:lnTo>
                    <a:pt x="3230880" y="2505710"/>
                  </a:lnTo>
                  <a:lnTo>
                    <a:pt x="3230880" y="6350"/>
                  </a:lnTo>
                  <a:lnTo>
                    <a:pt x="3237230" y="6350"/>
                  </a:lnTo>
                  <a:lnTo>
                    <a:pt x="323723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7" name="Group 123"/>
          <p:cNvGrpSpPr/>
          <p:nvPr/>
        </p:nvGrpSpPr>
        <p:grpSpPr>
          <a:xfrm>
            <a:off x="1901880" y="5546880"/>
            <a:ext cx="4361400" cy="82080"/>
            <a:chOff x="1901880" y="5546880"/>
            <a:chExt cx="4361400" cy="82080"/>
          </a:xfrm>
        </p:grpSpPr>
        <p:sp>
          <p:nvSpPr>
            <p:cNvPr id="248" name="Freeform 124"/>
            <p:cNvSpPr/>
            <p:nvPr/>
          </p:nvSpPr>
          <p:spPr>
            <a:xfrm>
              <a:off x="1901880" y="5546880"/>
              <a:ext cx="4361400" cy="8208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230880" h="60960">
                  <a:moveTo>
                    <a:pt x="0" y="0"/>
                  </a:moveTo>
                  <a:lnTo>
                    <a:pt x="3230880" y="0"/>
                  </a:lnTo>
                  <a:lnTo>
                    <a:pt x="32308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9" name="Group 125"/>
          <p:cNvGrpSpPr/>
          <p:nvPr/>
        </p:nvGrpSpPr>
        <p:grpSpPr>
          <a:xfrm>
            <a:off x="2181240" y="5727240"/>
            <a:ext cx="758160" cy="758160"/>
            <a:chOff x="2181240" y="5727240"/>
            <a:chExt cx="758160" cy="758160"/>
          </a:xfrm>
        </p:grpSpPr>
        <p:sp>
          <p:nvSpPr>
            <p:cNvPr id="250" name="Freeform 126"/>
            <p:cNvSpPr/>
            <p:nvPr/>
          </p:nvSpPr>
          <p:spPr>
            <a:xfrm>
              <a:off x="2198160" y="574416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7C3AED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Freeform 127"/>
            <p:cNvSpPr/>
            <p:nvPr/>
          </p:nvSpPr>
          <p:spPr>
            <a:xfrm>
              <a:off x="2181240" y="5727240"/>
              <a:ext cx="758160" cy="75816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0 h 758160"/>
                <a:gd name="textAreaBottom" fmla="*/ 758520 h 758160"/>
              </a:gdLst>
              <a:ahLst/>
              <a:cxnLst/>
              <a:rect l="textAreaLeft" t="textAreaTop" r="textAreaRight" b="textAreaBottom"/>
              <a:pathLst>
                <a:path w="561848" h="561848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280924" y="12700"/>
                  </a:lnTo>
                  <a:lnTo>
                    <a:pt x="280924" y="0"/>
                  </a:lnTo>
                  <a:cubicBezTo>
                    <a:pt x="436118" y="0"/>
                    <a:pt x="561848" y="125730"/>
                    <a:pt x="561848" y="280924"/>
                  </a:cubicBezTo>
                  <a:lnTo>
                    <a:pt x="549148" y="280924"/>
                  </a:lnTo>
                  <a:lnTo>
                    <a:pt x="561848" y="280924"/>
                  </a:lnTo>
                  <a:cubicBezTo>
                    <a:pt x="561848" y="436118"/>
                    <a:pt x="436118" y="561848"/>
                    <a:pt x="280924" y="561848"/>
                  </a:cubicBezTo>
                  <a:lnTo>
                    <a:pt x="280924" y="549148"/>
                  </a:lnTo>
                  <a:lnTo>
                    <a:pt x="280924" y="561848"/>
                  </a:lnTo>
                  <a:cubicBezTo>
                    <a:pt x="125730" y="561848"/>
                    <a:pt x="0" y="436118"/>
                    <a:pt x="0" y="280924"/>
                  </a:cubicBezTo>
                  <a:lnTo>
                    <a:pt x="12700" y="280924"/>
                  </a:lnTo>
                  <a:lnTo>
                    <a:pt x="25400" y="280924"/>
                  </a:lnTo>
                  <a:lnTo>
                    <a:pt x="12700" y="280924"/>
                  </a:lnTo>
                  <a:lnTo>
                    <a:pt x="0" y="280924"/>
                  </a:lnTo>
                  <a:moveTo>
                    <a:pt x="25400" y="280924"/>
                  </a:moveTo>
                  <a:cubicBezTo>
                    <a:pt x="25400" y="287909"/>
                    <a:pt x="19685" y="293624"/>
                    <a:pt x="12700" y="293624"/>
                  </a:cubicBezTo>
                  <a:cubicBezTo>
                    <a:pt x="5715" y="293624"/>
                    <a:pt x="0" y="287909"/>
                    <a:pt x="0" y="280924"/>
                  </a:cubicBezTo>
                  <a:cubicBezTo>
                    <a:pt x="0" y="273939"/>
                    <a:pt x="5715" y="268224"/>
                    <a:pt x="12700" y="268224"/>
                  </a:cubicBezTo>
                  <a:cubicBezTo>
                    <a:pt x="19685" y="268224"/>
                    <a:pt x="25400" y="273939"/>
                    <a:pt x="25400" y="280924"/>
                  </a:cubicBezTo>
                  <a:cubicBezTo>
                    <a:pt x="25400" y="422021"/>
                    <a:pt x="139827" y="536448"/>
                    <a:pt x="280924" y="536448"/>
                  </a:cubicBezTo>
                  <a:cubicBezTo>
                    <a:pt x="422021" y="536448"/>
                    <a:pt x="536448" y="422021"/>
                    <a:pt x="536448" y="280924"/>
                  </a:cubicBezTo>
                  <a:cubicBezTo>
                    <a:pt x="536448" y="139827"/>
                    <a:pt x="422021" y="25400"/>
                    <a:pt x="280924" y="25400"/>
                  </a:cubicBezTo>
                  <a:lnTo>
                    <a:pt x="280924" y="12700"/>
                  </a:lnTo>
                  <a:lnTo>
                    <a:pt x="280924" y="25400"/>
                  </a:lnTo>
                  <a:cubicBezTo>
                    <a:pt x="139827" y="25400"/>
                    <a:pt x="25400" y="139827"/>
                    <a:pt x="25400" y="280924"/>
                  </a:cubicBezTo>
                  <a:close/>
                </a:path>
              </a:pathLst>
            </a:cu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2" name="Group 128"/>
          <p:cNvGrpSpPr/>
          <p:nvPr/>
        </p:nvGrpSpPr>
        <p:grpSpPr>
          <a:xfrm>
            <a:off x="2198160" y="5654160"/>
            <a:ext cx="723960" cy="813960"/>
            <a:chOff x="2198160" y="5654160"/>
            <a:chExt cx="723960" cy="813960"/>
          </a:xfrm>
        </p:grpSpPr>
        <p:sp>
          <p:nvSpPr>
            <p:cNvPr id="253" name="Freeform 129"/>
            <p:cNvSpPr/>
            <p:nvPr/>
          </p:nvSpPr>
          <p:spPr>
            <a:xfrm>
              <a:off x="2198160" y="574416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TextBox 130"/>
            <p:cNvSpPr/>
            <p:nvPr/>
          </p:nvSpPr>
          <p:spPr>
            <a:xfrm>
              <a:off x="2198160" y="5654160"/>
              <a:ext cx="723960" cy="81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671"/>
                </a:lnSpc>
              </a:pPr>
              <a:r>
                <a:rPr lang="en-US" sz="3060" b="0" u="none" strike="noStrike">
                  <a:solidFill>
                    <a:srgbClr val="000000"/>
                  </a:solidFill>
                  <a:effectLst/>
                  <a:uFillTx/>
                  <a:latin typeface="Calibri (MS)"/>
                  <a:ea typeface="Calibri (MS)"/>
                </a:rPr>
                <a:t>🗄️</a:t>
              </a:r>
              <a:endParaRPr lang="en-IN" sz="30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5" name="Group 131"/>
          <p:cNvGrpSpPr/>
          <p:nvPr/>
        </p:nvGrpSpPr>
        <p:grpSpPr>
          <a:xfrm>
            <a:off x="3136320" y="5735160"/>
            <a:ext cx="2962440" cy="255960"/>
            <a:chOff x="3136320" y="5735160"/>
            <a:chExt cx="2962440" cy="255960"/>
          </a:xfrm>
        </p:grpSpPr>
        <p:sp>
          <p:nvSpPr>
            <p:cNvPr id="256" name="Freeform 132"/>
            <p:cNvSpPr/>
            <p:nvPr/>
          </p:nvSpPr>
          <p:spPr>
            <a:xfrm>
              <a:off x="3136320" y="5760720"/>
              <a:ext cx="2962440" cy="230040"/>
            </a:xfrm>
            <a:custGeom>
              <a:avLst/>
              <a:gdLst>
                <a:gd name="textAreaLeft" fmla="*/ 0 w 2962440"/>
                <a:gd name="textAreaRight" fmla="*/ 2962800 w 296244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2194560" h="170688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TextBox 133"/>
            <p:cNvSpPr/>
            <p:nvPr/>
          </p:nvSpPr>
          <p:spPr>
            <a:xfrm>
              <a:off x="3136320" y="5735160"/>
              <a:ext cx="2962440" cy="25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03"/>
                </a:lnSpc>
              </a:pPr>
              <a:r>
                <a:rPr lang="en-US" sz="1170" b="1" u="none" spc="269" strike="noStrike">
                  <a:solidFill>
                    <a:srgbClr val="9CA3AF"/>
                  </a:solidFill>
                  <a:effectLst/>
                  <a:uFillTx/>
                  <a:latin typeface="Calibri (MS) Bold"/>
                  <a:ea typeface="Calibri (MS) Bold"/>
                </a:rPr>
                <a:t>FEATURE 04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8" name="Group 134"/>
          <p:cNvGrpSpPr/>
          <p:nvPr/>
        </p:nvGrpSpPr>
        <p:grpSpPr>
          <a:xfrm>
            <a:off x="2198160" y="6457320"/>
            <a:ext cx="3933360" cy="544680"/>
            <a:chOff x="2198160" y="6457320"/>
            <a:chExt cx="3933360" cy="544680"/>
          </a:xfrm>
        </p:grpSpPr>
        <p:sp>
          <p:nvSpPr>
            <p:cNvPr id="259" name="Freeform 135"/>
            <p:cNvSpPr/>
            <p:nvPr/>
          </p:nvSpPr>
          <p:spPr>
            <a:xfrm>
              <a:off x="2198160" y="6534360"/>
              <a:ext cx="3933360" cy="46728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467280"/>
                <a:gd name="textAreaBottom" fmla="*/ 467640 h 467280"/>
              </a:gdLst>
              <a:ahLst/>
              <a:cxnLst/>
              <a:rect l="textAreaLeft" t="textAreaTop" r="textAreaRight" b="textAreaBottom"/>
              <a:pathLst>
                <a:path w="2913888" h="346508">
                  <a:moveTo>
                    <a:pt x="0" y="0"/>
                  </a:moveTo>
                  <a:lnTo>
                    <a:pt x="2913888" y="0"/>
                  </a:lnTo>
                  <a:lnTo>
                    <a:pt x="2913888" y="346508"/>
                  </a:lnTo>
                  <a:lnTo>
                    <a:pt x="0" y="346508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TextBox 136"/>
            <p:cNvSpPr/>
            <p:nvPr/>
          </p:nvSpPr>
          <p:spPr>
            <a:xfrm>
              <a:off x="2198160" y="6457320"/>
              <a:ext cx="3933360" cy="54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80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2340" b="1" u="none" strike="noStrike">
                  <a:solidFill>
                    <a:srgbClr val="111827"/>
                  </a:solidFill>
                  <a:effectLst/>
                  <a:uFillTx/>
                  <a:latin typeface="Calibri (MS) Bold"/>
                  <a:ea typeface="Calibri (MS) Bold"/>
                </a:rPr>
                <a:t>Context-Aware Foresight </a:t>
              </a:r>
              <a:endParaRPr lang="en-IN" sz="23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1" name="Group 137"/>
          <p:cNvGrpSpPr/>
          <p:nvPr/>
        </p:nvGrpSpPr>
        <p:grpSpPr>
          <a:xfrm>
            <a:off x="2198160" y="6989400"/>
            <a:ext cx="3933360" cy="943560"/>
            <a:chOff x="2198160" y="6989400"/>
            <a:chExt cx="3933360" cy="943560"/>
          </a:xfrm>
        </p:grpSpPr>
        <p:sp>
          <p:nvSpPr>
            <p:cNvPr id="262" name="Freeform 138"/>
            <p:cNvSpPr/>
            <p:nvPr/>
          </p:nvSpPr>
          <p:spPr>
            <a:xfrm>
              <a:off x="2198160" y="7027920"/>
              <a:ext cx="3933360" cy="90504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905040"/>
                <a:gd name="textAreaBottom" fmla="*/ 905400 h 905040"/>
              </a:gdLst>
              <a:ahLst/>
              <a:cxnLst/>
              <a:rect l="textAreaLeft" t="textAreaTop" r="textAreaRight" b="textAreaBottom"/>
              <a:pathLst>
                <a:path w="2913888" h="670560">
                  <a:moveTo>
                    <a:pt x="0" y="0"/>
                  </a:moveTo>
                  <a:lnTo>
                    <a:pt x="2913888" y="0"/>
                  </a:lnTo>
                  <a:lnTo>
                    <a:pt x="2913888" y="670560"/>
                  </a:lnTo>
                  <a:lnTo>
                    <a:pt x="0" y="67056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TextBox 139"/>
            <p:cNvSpPr/>
            <p:nvPr/>
          </p:nvSpPr>
          <p:spPr>
            <a:xfrm>
              <a:off x="2198160" y="6989400"/>
              <a:ext cx="393336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945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620" b="0" u="none" strike="noStrike">
                  <a:solidFill>
                    <a:srgbClr val="6B7280"/>
                  </a:solidFill>
                  <a:effectLst/>
                  <a:uFillTx/>
                  <a:latin typeface="Calibri (MS)"/>
                  <a:ea typeface="Calibri (MS)"/>
                </a:rPr>
                <a:t>AI-driven logic for planning "Next Likely Purchases" based on current intent. </a:t>
              </a:r>
              <a:endParaRPr lang="en-IN" sz="16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4" name="Group 140"/>
          <p:cNvGrpSpPr/>
          <p:nvPr/>
        </p:nvGrpSpPr>
        <p:grpSpPr>
          <a:xfrm>
            <a:off x="2066400" y="8388360"/>
            <a:ext cx="4032000" cy="11160"/>
            <a:chOff x="2066400" y="8388360"/>
            <a:chExt cx="4032000" cy="11160"/>
          </a:xfrm>
        </p:grpSpPr>
        <p:sp>
          <p:nvSpPr>
            <p:cNvPr id="265" name="Freeform 141"/>
            <p:cNvSpPr/>
            <p:nvPr/>
          </p:nvSpPr>
          <p:spPr>
            <a:xfrm>
              <a:off x="2066400" y="8388360"/>
              <a:ext cx="4032000" cy="11160"/>
            </a:xfrm>
            <a:custGeom>
              <a:avLst/>
              <a:gdLst>
                <a:gd name="textAreaLeft" fmla="*/ 0 w 4032000"/>
                <a:gd name="textAreaRight" fmla="*/ 4032360 w 40320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87040" h="8509">
                  <a:moveTo>
                    <a:pt x="0" y="0"/>
                  </a:moveTo>
                  <a:lnTo>
                    <a:pt x="2987040" y="0"/>
                  </a:lnTo>
                  <a:lnTo>
                    <a:pt x="2987040" y="8509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480" rIns="90000" bIns="-334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6" name="Group 142"/>
          <p:cNvGrpSpPr/>
          <p:nvPr/>
        </p:nvGrpSpPr>
        <p:grpSpPr>
          <a:xfrm>
            <a:off x="2297160" y="8493120"/>
            <a:ext cx="1447920" cy="263160"/>
            <a:chOff x="2297160" y="8493120"/>
            <a:chExt cx="1447920" cy="263160"/>
          </a:xfrm>
        </p:grpSpPr>
        <p:sp>
          <p:nvSpPr>
            <p:cNvPr id="267" name="Freeform 143"/>
            <p:cNvSpPr/>
            <p:nvPr/>
          </p:nvSpPr>
          <p:spPr>
            <a:xfrm>
              <a:off x="2297160" y="8493120"/>
              <a:ext cx="1447920" cy="263160"/>
            </a:xfrm>
            <a:custGeom>
              <a:avLst/>
              <a:gdLst>
                <a:gd name="textAreaLeft" fmla="*/ 0 w 1447920"/>
                <a:gd name="textAreaRight" fmla="*/ 1448280 w 1447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072896" h="195072">
                  <a:moveTo>
                    <a:pt x="0" y="48768"/>
                  </a:moveTo>
                  <a:cubicBezTo>
                    <a:pt x="0" y="21844"/>
                    <a:pt x="23368" y="0"/>
                    <a:pt x="52197" y="0"/>
                  </a:cubicBezTo>
                  <a:lnTo>
                    <a:pt x="1020699" y="0"/>
                  </a:lnTo>
                  <a:cubicBezTo>
                    <a:pt x="1049528" y="0"/>
                    <a:pt x="1072896" y="21844"/>
                    <a:pt x="1072896" y="48768"/>
                  </a:cubicBezTo>
                  <a:lnTo>
                    <a:pt x="1072896" y="146304"/>
                  </a:lnTo>
                  <a:cubicBezTo>
                    <a:pt x="1072896" y="173228"/>
                    <a:pt x="1049528" y="195072"/>
                    <a:pt x="1020699" y="195072"/>
                  </a:cubicBezTo>
                  <a:lnTo>
                    <a:pt x="52197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5F3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8" name="Group 144"/>
          <p:cNvGrpSpPr/>
          <p:nvPr/>
        </p:nvGrpSpPr>
        <p:grpSpPr>
          <a:xfrm>
            <a:off x="2256120" y="8467200"/>
            <a:ext cx="1447920" cy="289080"/>
            <a:chOff x="2256120" y="8467200"/>
            <a:chExt cx="1447920" cy="289080"/>
          </a:xfrm>
        </p:grpSpPr>
        <p:sp>
          <p:nvSpPr>
            <p:cNvPr id="269" name="Freeform 145"/>
            <p:cNvSpPr/>
            <p:nvPr/>
          </p:nvSpPr>
          <p:spPr>
            <a:xfrm>
              <a:off x="2256120" y="8493120"/>
              <a:ext cx="1447920" cy="263160"/>
            </a:xfrm>
            <a:custGeom>
              <a:avLst/>
              <a:gdLst>
                <a:gd name="textAreaLeft" fmla="*/ 0 w 1447920"/>
                <a:gd name="textAreaRight" fmla="*/ 1448280 w 1447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072896" h="195072">
                  <a:moveTo>
                    <a:pt x="0" y="0"/>
                  </a:moveTo>
                  <a:lnTo>
                    <a:pt x="1072896" y="0"/>
                  </a:lnTo>
                  <a:lnTo>
                    <a:pt x="1072896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TextBox 146"/>
            <p:cNvSpPr/>
            <p:nvPr/>
          </p:nvSpPr>
          <p:spPr>
            <a:xfrm>
              <a:off x="2256120" y="8467200"/>
              <a:ext cx="1447920" cy="28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6D28D9"/>
                  </a:solidFill>
                  <a:effectLst/>
                  <a:uFillTx/>
                  <a:latin typeface="Calibri (MS)"/>
                  <a:ea typeface="Calibri (MS)"/>
                </a:rPr>
                <a:t>Data Engineering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1" name="Group 147"/>
          <p:cNvGrpSpPr/>
          <p:nvPr/>
        </p:nvGrpSpPr>
        <p:grpSpPr>
          <a:xfrm>
            <a:off x="4033440" y="8493120"/>
            <a:ext cx="1546560" cy="263160"/>
            <a:chOff x="4033440" y="8493120"/>
            <a:chExt cx="1546560" cy="263160"/>
          </a:xfrm>
        </p:grpSpPr>
        <p:sp>
          <p:nvSpPr>
            <p:cNvPr id="272" name="Freeform 148"/>
            <p:cNvSpPr/>
            <p:nvPr/>
          </p:nvSpPr>
          <p:spPr>
            <a:xfrm>
              <a:off x="4033440" y="8493120"/>
              <a:ext cx="1546560" cy="263160"/>
            </a:xfrm>
            <a:custGeom>
              <a:avLst/>
              <a:gdLst>
                <a:gd name="textAreaLeft" fmla="*/ 0 w 1546560"/>
                <a:gd name="textAreaRight" fmla="*/ 1546920 w 154656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145921" h="195072">
                  <a:moveTo>
                    <a:pt x="0" y="48768"/>
                  </a:moveTo>
                  <a:cubicBezTo>
                    <a:pt x="0" y="21844"/>
                    <a:pt x="23368" y="0"/>
                    <a:pt x="52197" y="0"/>
                  </a:cubicBezTo>
                  <a:lnTo>
                    <a:pt x="1093724" y="0"/>
                  </a:lnTo>
                  <a:cubicBezTo>
                    <a:pt x="1122553" y="0"/>
                    <a:pt x="1145921" y="21844"/>
                    <a:pt x="1145921" y="48768"/>
                  </a:cubicBezTo>
                  <a:lnTo>
                    <a:pt x="1145921" y="146304"/>
                  </a:lnTo>
                  <a:cubicBezTo>
                    <a:pt x="1145921" y="173228"/>
                    <a:pt x="1122553" y="195072"/>
                    <a:pt x="1093724" y="195072"/>
                  </a:cubicBezTo>
                  <a:lnTo>
                    <a:pt x="52197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5F3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3" name="Group 149"/>
          <p:cNvGrpSpPr/>
          <p:nvPr/>
        </p:nvGrpSpPr>
        <p:grpSpPr>
          <a:xfrm>
            <a:off x="4033440" y="8457120"/>
            <a:ext cx="1466640" cy="273960"/>
            <a:chOff x="4033440" y="8457120"/>
            <a:chExt cx="1466640" cy="273960"/>
          </a:xfrm>
        </p:grpSpPr>
        <p:sp>
          <p:nvSpPr>
            <p:cNvPr id="274" name="Freeform 150"/>
            <p:cNvSpPr/>
            <p:nvPr/>
          </p:nvSpPr>
          <p:spPr>
            <a:xfrm>
              <a:off x="4033440" y="8481600"/>
              <a:ext cx="1466640" cy="249480"/>
            </a:xfrm>
            <a:custGeom>
              <a:avLst/>
              <a:gdLst>
                <a:gd name="textAreaLeft" fmla="*/ 0 w 1466640"/>
                <a:gd name="textAreaRight" fmla="*/ 1467000 w 146664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1146048" h="195072">
                  <a:moveTo>
                    <a:pt x="0" y="0"/>
                  </a:moveTo>
                  <a:lnTo>
                    <a:pt x="1146048" y="0"/>
                  </a:lnTo>
                  <a:lnTo>
                    <a:pt x="1146048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TextBox 151"/>
            <p:cNvSpPr/>
            <p:nvPr/>
          </p:nvSpPr>
          <p:spPr>
            <a:xfrm>
              <a:off x="4033440" y="8457120"/>
              <a:ext cx="146664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6D28D9"/>
                  </a:solidFill>
                  <a:effectLst/>
                  <a:uFillTx/>
                  <a:latin typeface="Calibri (MS)"/>
                  <a:ea typeface="Calibri (MS)"/>
                </a:rPr>
                <a:t>Cross-sell logic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6" name="Group 152"/>
          <p:cNvGrpSpPr/>
          <p:nvPr/>
        </p:nvGrpSpPr>
        <p:grpSpPr>
          <a:xfrm>
            <a:off x="6833880" y="5376600"/>
            <a:ext cx="4701960" cy="3714120"/>
            <a:chOff x="6833880" y="5376600"/>
            <a:chExt cx="4701960" cy="3714120"/>
          </a:xfrm>
        </p:grpSpPr>
        <p:sp>
          <p:nvSpPr>
            <p:cNvPr id="277" name="Freeform 153"/>
            <p:cNvSpPr/>
            <p:nvPr/>
          </p:nvSpPr>
          <p:spPr>
            <a:xfrm>
              <a:off x="6839640" y="5382000"/>
              <a:ext cx="4690800" cy="3702960"/>
            </a:xfrm>
            <a:custGeom>
              <a:avLst/>
              <a:gdLst>
                <a:gd name="textAreaLeft" fmla="*/ 0 w 4690800"/>
                <a:gd name="textAreaRight" fmla="*/ 4691160 w 4690800"/>
                <a:gd name="textAreaTop" fmla="*/ 0 h 3702960"/>
                <a:gd name="textAreaBottom" fmla="*/ 3703320 h 3702960"/>
              </a:gdLst>
              <a:ahLst/>
              <a:cxnLst/>
              <a:rect l="textAreaLeft" t="textAreaTop" r="textAreaRight" b="textAreaBottom"/>
              <a:pathLst>
                <a:path w="3474847" h="2743200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352800" y="0"/>
                  </a:lnTo>
                  <a:cubicBezTo>
                    <a:pt x="3420110" y="0"/>
                    <a:pt x="3474847" y="54610"/>
                    <a:pt x="3474847" y="121920"/>
                  </a:cubicBezTo>
                  <a:lnTo>
                    <a:pt x="3474847" y="2621280"/>
                  </a:lnTo>
                  <a:cubicBezTo>
                    <a:pt x="3474847" y="2688590"/>
                    <a:pt x="3420237" y="2743200"/>
                    <a:pt x="3352800" y="2743200"/>
                  </a:cubicBezTo>
                  <a:lnTo>
                    <a:pt x="122047" y="2743200"/>
                  </a:lnTo>
                  <a:cubicBezTo>
                    <a:pt x="54737" y="2743200"/>
                    <a:pt x="0" y="2688590"/>
                    <a:pt x="0" y="2621280"/>
                  </a:cubicBezTo>
                  <a:close/>
                </a:path>
              </a:pathLst>
            </a:custGeom>
            <a:solidFill>
              <a:srgbClr val="F2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Freeform 154"/>
            <p:cNvSpPr/>
            <p:nvPr/>
          </p:nvSpPr>
          <p:spPr>
            <a:xfrm>
              <a:off x="6833880" y="5376600"/>
              <a:ext cx="4701960" cy="3714120"/>
            </a:xfrm>
            <a:custGeom>
              <a:avLst/>
              <a:gdLst>
                <a:gd name="textAreaLeft" fmla="*/ 0 w 4701960"/>
                <a:gd name="textAreaRight" fmla="*/ 4702320 w 4701960"/>
                <a:gd name="textAreaTop" fmla="*/ 0 h 3714120"/>
                <a:gd name="textAreaBottom" fmla="*/ 3714480 h 3714120"/>
              </a:gdLst>
              <a:ahLst/>
              <a:cxnLst/>
              <a:rect l="textAreaLeft" t="textAreaTop" r="textAreaRight" b="textAreaBottom"/>
              <a:pathLst>
                <a:path w="3483229" h="2751582">
                  <a:moveTo>
                    <a:pt x="0" y="126111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3356991" y="0"/>
                  </a:lnTo>
                  <a:lnTo>
                    <a:pt x="3356991" y="4191"/>
                  </a:lnTo>
                  <a:lnTo>
                    <a:pt x="3356991" y="0"/>
                  </a:lnTo>
                  <a:cubicBezTo>
                    <a:pt x="3426714" y="0"/>
                    <a:pt x="3483229" y="56515"/>
                    <a:pt x="3483229" y="126111"/>
                  </a:cubicBezTo>
                  <a:lnTo>
                    <a:pt x="3479038" y="126111"/>
                  </a:lnTo>
                  <a:lnTo>
                    <a:pt x="3483229" y="126111"/>
                  </a:lnTo>
                  <a:lnTo>
                    <a:pt x="3483229" y="2625471"/>
                  </a:lnTo>
                  <a:lnTo>
                    <a:pt x="3479038" y="2625471"/>
                  </a:lnTo>
                  <a:lnTo>
                    <a:pt x="3483229" y="2625471"/>
                  </a:lnTo>
                  <a:cubicBezTo>
                    <a:pt x="3483229" y="2695194"/>
                    <a:pt x="3426714" y="2751582"/>
                    <a:pt x="3356991" y="2751582"/>
                  </a:cubicBezTo>
                  <a:lnTo>
                    <a:pt x="3356991" y="2747391"/>
                  </a:lnTo>
                  <a:lnTo>
                    <a:pt x="3356991" y="2751582"/>
                  </a:lnTo>
                  <a:lnTo>
                    <a:pt x="126238" y="2751582"/>
                  </a:lnTo>
                  <a:lnTo>
                    <a:pt x="126238" y="2747391"/>
                  </a:lnTo>
                  <a:lnTo>
                    <a:pt x="126238" y="2751582"/>
                  </a:lnTo>
                  <a:cubicBezTo>
                    <a:pt x="56515" y="2751582"/>
                    <a:pt x="0" y="2695067"/>
                    <a:pt x="0" y="2625471"/>
                  </a:cubicBezTo>
                  <a:lnTo>
                    <a:pt x="0" y="126111"/>
                  </a:lnTo>
                  <a:lnTo>
                    <a:pt x="4191" y="126111"/>
                  </a:lnTo>
                  <a:lnTo>
                    <a:pt x="0" y="126111"/>
                  </a:lnTo>
                  <a:moveTo>
                    <a:pt x="8509" y="126111"/>
                  </a:moveTo>
                  <a:lnTo>
                    <a:pt x="8509" y="2625471"/>
                  </a:lnTo>
                  <a:lnTo>
                    <a:pt x="4191" y="2625471"/>
                  </a:lnTo>
                  <a:lnTo>
                    <a:pt x="8509" y="2625471"/>
                  </a:lnTo>
                  <a:cubicBezTo>
                    <a:pt x="8509" y="2690495"/>
                    <a:pt x="61214" y="2743200"/>
                    <a:pt x="126238" y="2743200"/>
                  </a:cubicBezTo>
                  <a:lnTo>
                    <a:pt x="3356991" y="2743200"/>
                  </a:lnTo>
                  <a:cubicBezTo>
                    <a:pt x="3422015" y="2743200"/>
                    <a:pt x="3474720" y="2690495"/>
                    <a:pt x="3474720" y="2625471"/>
                  </a:cubicBezTo>
                  <a:lnTo>
                    <a:pt x="3474720" y="126111"/>
                  </a:lnTo>
                  <a:cubicBezTo>
                    <a:pt x="3474720" y="61087"/>
                    <a:pt x="3422015" y="8382"/>
                    <a:pt x="3356991" y="8382"/>
                  </a:cubicBezTo>
                  <a:lnTo>
                    <a:pt x="126238" y="8382"/>
                  </a:lnTo>
                  <a:lnTo>
                    <a:pt x="126238" y="4191"/>
                  </a:lnTo>
                  <a:lnTo>
                    <a:pt x="126238" y="8509"/>
                  </a:lnTo>
                  <a:cubicBezTo>
                    <a:pt x="61214" y="8509"/>
                    <a:pt x="8509" y="61214"/>
                    <a:pt x="8509" y="126111"/>
                  </a:cubicBez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9" name="Group 155"/>
          <p:cNvGrpSpPr/>
          <p:nvPr/>
        </p:nvGrpSpPr>
        <p:grpSpPr>
          <a:xfrm>
            <a:off x="6995880" y="5538240"/>
            <a:ext cx="4378320" cy="3390840"/>
            <a:chOff x="6995880" y="5538240"/>
            <a:chExt cx="4378320" cy="3390840"/>
          </a:xfrm>
        </p:grpSpPr>
        <p:sp>
          <p:nvSpPr>
            <p:cNvPr id="280" name="Freeform 156"/>
            <p:cNvSpPr/>
            <p:nvPr/>
          </p:nvSpPr>
          <p:spPr>
            <a:xfrm>
              <a:off x="7004160" y="5546880"/>
              <a:ext cx="4361400" cy="337392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3373920"/>
                <a:gd name="textAreaBottom" fmla="*/ 3374280 h 3373920"/>
              </a:gdLst>
              <a:ahLst/>
              <a:cxnLst/>
              <a:rect l="textAreaLeft" t="textAreaTop" r="textAreaRight" b="textAreaBottom"/>
              <a:pathLst>
                <a:path w="3230880" h="2499360">
                  <a:moveTo>
                    <a:pt x="0" y="0"/>
                  </a:moveTo>
                  <a:lnTo>
                    <a:pt x="3230880" y="0"/>
                  </a:lnTo>
                  <a:lnTo>
                    <a:pt x="323088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eform 157"/>
            <p:cNvSpPr/>
            <p:nvPr/>
          </p:nvSpPr>
          <p:spPr>
            <a:xfrm>
              <a:off x="6995880" y="5538240"/>
              <a:ext cx="4378320" cy="3390840"/>
            </a:xfrm>
            <a:custGeom>
              <a:avLst/>
              <a:gdLst>
                <a:gd name="textAreaLeft" fmla="*/ 0 w 4378320"/>
                <a:gd name="textAreaRight" fmla="*/ 4378680 w 4378320"/>
                <a:gd name="textAreaTop" fmla="*/ 0 h 3390840"/>
                <a:gd name="textAreaBottom" fmla="*/ 3391200 h 3390840"/>
              </a:gdLst>
              <a:ahLst/>
              <a:cxnLst/>
              <a:rect l="textAreaLeft" t="textAreaTop" r="textAreaRight" b="textAreaBottom"/>
              <a:pathLst>
                <a:path w="3243580" h="2512060">
                  <a:moveTo>
                    <a:pt x="6350" y="0"/>
                  </a:moveTo>
                  <a:lnTo>
                    <a:pt x="3237230" y="0"/>
                  </a:lnTo>
                  <a:cubicBezTo>
                    <a:pt x="3240786" y="0"/>
                    <a:pt x="3243580" y="2794"/>
                    <a:pt x="3243580" y="6350"/>
                  </a:cubicBezTo>
                  <a:lnTo>
                    <a:pt x="3243580" y="2505710"/>
                  </a:lnTo>
                  <a:cubicBezTo>
                    <a:pt x="3243580" y="2509266"/>
                    <a:pt x="3240786" y="2512060"/>
                    <a:pt x="3237230" y="2512060"/>
                  </a:cubicBezTo>
                  <a:lnTo>
                    <a:pt x="6350" y="2512060"/>
                  </a:lnTo>
                  <a:cubicBezTo>
                    <a:pt x="2794" y="2512060"/>
                    <a:pt x="0" y="2509266"/>
                    <a:pt x="0" y="25057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05710"/>
                  </a:lnTo>
                  <a:lnTo>
                    <a:pt x="6350" y="2505710"/>
                  </a:lnTo>
                  <a:lnTo>
                    <a:pt x="6350" y="2499360"/>
                  </a:lnTo>
                  <a:lnTo>
                    <a:pt x="3237230" y="2499360"/>
                  </a:lnTo>
                  <a:lnTo>
                    <a:pt x="3237230" y="2505710"/>
                  </a:lnTo>
                  <a:lnTo>
                    <a:pt x="3230880" y="2505710"/>
                  </a:lnTo>
                  <a:lnTo>
                    <a:pt x="3230880" y="6350"/>
                  </a:lnTo>
                  <a:lnTo>
                    <a:pt x="3237230" y="6350"/>
                  </a:lnTo>
                  <a:lnTo>
                    <a:pt x="323723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roup 158"/>
          <p:cNvGrpSpPr/>
          <p:nvPr/>
        </p:nvGrpSpPr>
        <p:grpSpPr>
          <a:xfrm>
            <a:off x="7004520" y="5546880"/>
            <a:ext cx="4361400" cy="82080"/>
            <a:chOff x="7004520" y="5546880"/>
            <a:chExt cx="4361400" cy="82080"/>
          </a:xfrm>
        </p:grpSpPr>
        <p:sp>
          <p:nvSpPr>
            <p:cNvPr id="283" name="Freeform 159"/>
            <p:cNvSpPr/>
            <p:nvPr/>
          </p:nvSpPr>
          <p:spPr>
            <a:xfrm>
              <a:off x="7004520" y="5546880"/>
              <a:ext cx="4361400" cy="8208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230880" h="60960">
                  <a:moveTo>
                    <a:pt x="0" y="0"/>
                  </a:moveTo>
                  <a:lnTo>
                    <a:pt x="3230880" y="0"/>
                  </a:lnTo>
                  <a:lnTo>
                    <a:pt x="32308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E11D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4" name="Group 160"/>
          <p:cNvGrpSpPr/>
          <p:nvPr/>
        </p:nvGrpSpPr>
        <p:grpSpPr>
          <a:xfrm>
            <a:off x="7283520" y="5727240"/>
            <a:ext cx="758160" cy="758160"/>
            <a:chOff x="7283520" y="5727240"/>
            <a:chExt cx="758160" cy="758160"/>
          </a:xfrm>
        </p:grpSpPr>
        <p:sp>
          <p:nvSpPr>
            <p:cNvPr id="285" name="Freeform 161"/>
            <p:cNvSpPr/>
            <p:nvPr/>
          </p:nvSpPr>
          <p:spPr>
            <a:xfrm>
              <a:off x="7300440" y="574416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E11D48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Freeform 162"/>
            <p:cNvSpPr/>
            <p:nvPr/>
          </p:nvSpPr>
          <p:spPr>
            <a:xfrm>
              <a:off x="7283520" y="5727240"/>
              <a:ext cx="758160" cy="75816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0 h 758160"/>
                <a:gd name="textAreaBottom" fmla="*/ 758520 h 758160"/>
              </a:gdLst>
              <a:ahLst/>
              <a:cxnLst/>
              <a:rect l="textAreaLeft" t="textAreaTop" r="textAreaRight" b="textAreaBottom"/>
              <a:pathLst>
                <a:path w="561848" h="561848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280924" y="12700"/>
                  </a:lnTo>
                  <a:lnTo>
                    <a:pt x="280924" y="0"/>
                  </a:lnTo>
                  <a:cubicBezTo>
                    <a:pt x="436118" y="0"/>
                    <a:pt x="561848" y="125730"/>
                    <a:pt x="561848" y="280924"/>
                  </a:cubicBezTo>
                  <a:lnTo>
                    <a:pt x="549148" y="280924"/>
                  </a:lnTo>
                  <a:lnTo>
                    <a:pt x="561848" y="280924"/>
                  </a:lnTo>
                  <a:cubicBezTo>
                    <a:pt x="561848" y="436118"/>
                    <a:pt x="436118" y="561848"/>
                    <a:pt x="280924" y="561848"/>
                  </a:cubicBezTo>
                  <a:lnTo>
                    <a:pt x="280924" y="549148"/>
                  </a:lnTo>
                  <a:lnTo>
                    <a:pt x="280924" y="561848"/>
                  </a:lnTo>
                  <a:cubicBezTo>
                    <a:pt x="125730" y="561848"/>
                    <a:pt x="0" y="436118"/>
                    <a:pt x="0" y="280924"/>
                  </a:cubicBezTo>
                  <a:lnTo>
                    <a:pt x="12700" y="280924"/>
                  </a:lnTo>
                  <a:lnTo>
                    <a:pt x="25400" y="280924"/>
                  </a:lnTo>
                  <a:lnTo>
                    <a:pt x="12700" y="280924"/>
                  </a:lnTo>
                  <a:lnTo>
                    <a:pt x="0" y="280924"/>
                  </a:lnTo>
                  <a:moveTo>
                    <a:pt x="25400" y="280924"/>
                  </a:moveTo>
                  <a:cubicBezTo>
                    <a:pt x="25400" y="287909"/>
                    <a:pt x="19685" y="293624"/>
                    <a:pt x="12700" y="293624"/>
                  </a:cubicBezTo>
                  <a:cubicBezTo>
                    <a:pt x="5715" y="293624"/>
                    <a:pt x="0" y="287909"/>
                    <a:pt x="0" y="280924"/>
                  </a:cubicBezTo>
                  <a:cubicBezTo>
                    <a:pt x="0" y="273939"/>
                    <a:pt x="5715" y="268224"/>
                    <a:pt x="12700" y="268224"/>
                  </a:cubicBezTo>
                  <a:cubicBezTo>
                    <a:pt x="19685" y="268224"/>
                    <a:pt x="25400" y="273939"/>
                    <a:pt x="25400" y="280924"/>
                  </a:cubicBezTo>
                  <a:cubicBezTo>
                    <a:pt x="25400" y="422021"/>
                    <a:pt x="139827" y="536448"/>
                    <a:pt x="280924" y="536448"/>
                  </a:cubicBezTo>
                  <a:cubicBezTo>
                    <a:pt x="422021" y="536448"/>
                    <a:pt x="536448" y="422021"/>
                    <a:pt x="536448" y="280924"/>
                  </a:cubicBezTo>
                  <a:cubicBezTo>
                    <a:pt x="536448" y="139827"/>
                    <a:pt x="422021" y="25400"/>
                    <a:pt x="280924" y="25400"/>
                  </a:cubicBezTo>
                  <a:lnTo>
                    <a:pt x="280924" y="12700"/>
                  </a:lnTo>
                  <a:lnTo>
                    <a:pt x="280924" y="25400"/>
                  </a:lnTo>
                  <a:cubicBezTo>
                    <a:pt x="139827" y="25400"/>
                    <a:pt x="25400" y="139827"/>
                    <a:pt x="25400" y="280924"/>
                  </a:cubicBezTo>
                  <a:close/>
                </a:path>
              </a:pathLst>
            </a:custGeom>
            <a:solidFill>
              <a:srgbClr val="E11D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7" name="Group 163"/>
          <p:cNvGrpSpPr/>
          <p:nvPr/>
        </p:nvGrpSpPr>
        <p:grpSpPr>
          <a:xfrm>
            <a:off x="7300440" y="5654160"/>
            <a:ext cx="723960" cy="813960"/>
            <a:chOff x="7300440" y="5654160"/>
            <a:chExt cx="723960" cy="813960"/>
          </a:xfrm>
        </p:grpSpPr>
        <p:sp>
          <p:nvSpPr>
            <p:cNvPr id="288" name="Freeform 164"/>
            <p:cNvSpPr/>
            <p:nvPr/>
          </p:nvSpPr>
          <p:spPr>
            <a:xfrm>
              <a:off x="7300440" y="574416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TextBox 165"/>
            <p:cNvSpPr/>
            <p:nvPr/>
          </p:nvSpPr>
          <p:spPr>
            <a:xfrm>
              <a:off x="7300440" y="5654160"/>
              <a:ext cx="723960" cy="81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671"/>
                </a:lnSpc>
              </a:pPr>
              <a:r>
                <a:rPr lang="en-US" sz="3060" b="0" u="none" strike="noStrike">
                  <a:solidFill>
                    <a:srgbClr val="000000"/>
                  </a:solidFill>
                  <a:effectLst/>
                  <a:uFillTx/>
                  <a:latin typeface="Calibri (MS)"/>
                  <a:ea typeface="Calibri (MS)"/>
                </a:rPr>
                <a:t>💧</a:t>
              </a:r>
              <a:endParaRPr lang="en-IN" sz="30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0" name="Group 166"/>
          <p:cNvGrpSpPr/>
          <p:nvPr/>
        </p:nvGrpSpPr>
        <p:grpSpPr>
          <a:xfrm>
            <a:off x="8238600" y="5735160"/>
            <a:ext cx="2962440" cy="255960"/>
            <a:chOff x="8238600" y="5735160"/>
            <a:chExt cx="2962440" cy="255960"/>
          </a:xfrm>
        </p:grpSpPr>
        <p:sp>
          <p:nvSpPr>
            <p:cNvPr id="291" name="Freeform 167"/>
            <p:cNvSpPr/>
            <p:nvPr/>
          </p:nvSpPr>
          <p:spPr>
            <a:xfrm>
              <a:off x="8238600" y="5760720"/>
              <a:ext cx="2962440" cy="230040"/>
            </a:xfrm>
            <a:custGeom>
              <a:avLst/>
              <a:gdLst>
                <a:gd name="textAreaLeft" fmla="*/ 0 w 2962440"/>
                <a:gd name="textAreaRight" fmla="*/ 2962800 w 296244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2194560" h="170688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blipFill rotWithShape="0">
              <a:blip r:embed="rId2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TextBox 168"/>
            <p:cNvSpPr/>
            <p:nvPr/>
          </p:nvSpPr>
          <p:spPr>
            <a:xfrm>
              <a:off x="8238600" y="5735160"/>
              <a:ext cx="2962440" cy="25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03"/>
                </a:lnSpc>
              </a:pPr>
              <a:r>
                <a:rPr lang="en-US" sz="1170" b="1" u="none" spc="269" strike="noStrike">
                  <a:solidFill>
                    <a:srgbClr val="9CA3AF"/>
                  </a:solidFill>
                  <a:effectLst/>
                  <a:uFillTx/>
                  <a:latin typeface="Calibri (MS) Bold"/>
                  <a:ea typeface="Calibri (MS) Bold"/>
                </a:rPr>
                <a:t>FEATURE 05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3" name="Group 169"/>
          <p:cNvGrpSpPr/>
          <p:nvPr/>
        </p:nvGrpSpPr>
        <p:grpSpPr>
          <a:xfrm>
            <a:off x="7300440" y="6457320"/>
            <a:ext cx="3933360" cy="544680"/>
            <a:chOff x="7300440" y="6457320"/>
            <a:chExt cx="3933360" cy="544680"/>
          </a:xfrm>
        </p:grpSpPr>
        <p:sp>
          <p:nvSpPr>
            <p:cNvPr id="294" name="Freeform 170"/>
            <p:cNvSpPr/>
            <p:nvPr/>
          </p:nvSpPr>
          <p:spPr>
            <a:xfrm>
              <a:off x="7300440" y="6534360"/>
              <a:ext cx="3933360" cy="46728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467280"/>
                <a:gd name="textAreaBottom" fmla="*/ 467640 h 467280"/>
              </a:gdLst>
              <a:ahLst/>
              <a:cxnLst/>
              <a:rect l="textAreaLeft" t="textAreaTop" r="textAreaRight" b="textAreaBottom"/>
              <a:pathLst>
                <a:path w="2913888" h="346508">
                  <a:moveTo>
                    <a:pt x="0" y="0"/>
                  </a:moveTo>
                  <a:lnTo>
                    <a:pt x="2913888" y="0"/>
                  </a:lnTo>
                  <a:lnTo>
                    <a:pt x="2913888" y="346508"/>
                  </a:lnTo>
                  <a:lnTo>
                    <a:pt x="0" y="346508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TextBox 171"/>
            <p:cNvSpPr/>
            <p:nvPr/>
          </p:nvSpPr>
          <p:spPr>
            <a:xfrm>
              <a:off x="7300440" y="6457320"/>
              <a:ext cx="3933360" cy="54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80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2340" b="1" u="none" strike="noStrike">
                  <a:solidFill>
                    <a:srgbClr val="111827"/>
                  </a:solidFill>
                  <a:effectLst/>
                  <a:uFillTx/>
                  <a:latin typeface="Calibri (MS) Bold"/>
                  <a:ea typeface="Calibri (MS) Bold"/>
                </a:rPr>
                <a:t>Deterministic Fallbacks </a:t>
              </a:r>
              <a:endParaRPr lang="en-IN" sz="23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6" name="Group 172"/>
          <p:cNvGrpSpPr/>
          <p:nvPr/>
        </p:nvGrpSpPr>
        <p:grpSpPr>
          <a:xfrm>
            <a:off x="7300440" y="6989400"/>
            <a:ext cx="3933360" cy="943560"/>
            <a:chOff x="7300440" y="6989400"/>
            <a:chExt cx="3933360" cy="943560"/>
          </a:xfrm>
        </p:grpSpPr>
        <p:sp>
          <p:nvSpPr>
            <p:cNvPr id="297" name="Freeform 173"/>
            <p:cNvSpPr/>
            <p:nvPr/>
          </p:nvSpPr>
          <p:spPr>
            <a:xfrm>
              <a:off x="7300440" y="7027920"/>
              <a:ext cx="3933360" cy="90504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905040"/>
                <a:gd name="textAreaBottom" fmla="*/ 905400 h 905040"/>
              </a:gdLst>
              <a:ahLst/>
              <a:cxnLst/>
              <a:rect l="textAreaLeft" t="textAreaTop" r="textAreaRight" b="textAreaBottom"/>
              <a:pathLst>
                <a:path w="2913888" h="670560">
                  <a:moveTo>
                    <a:pt x="0" y="0"/>
                  </a:moveTo>
                  <a:lnTo>
                    <a:pt x="2913888" y="0"/>
                  </a:lnTo>
                  <a:lnTo>
                    <a:pt x="2913888" y="670560"/>
                  </a:lnTo>
                  <a:lnTo>
                    <a:pt x="0" y="670560"/>
                  </a:lnTo>
                  <a:close/>
                </a:path>
              </a:pathLst>
            </a:custGeom>
            <a:blipFill rotWithShape="0">
              <a:blip r:embed="rId2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TextBox 174"/>
            <p:cNvSpPr/>
            <p:nvPr/>
          </p:nvSpPr>
          <p:spPr>
            <a:xfrm>
              <a:off x="7300440" y="6989400"/>
              <a:ext cx="393336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945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620" b="0" u="none" strike="noStrike">
                  <a:solidFill>
                    <a:srgbClr val="6B7280"/>
                  </a:solidFill>
                  <a:effectLst/>
                  <a:uFillTx/>
                  <a:latin typeface="Calibri (MS)"/>
                  <a:ea typeface="Calibri (MS)"/>
                </a:rPr>
                <a:t>Python-based formatting backups ensure the UI never breaks, even if the LLM fails. </a:t>
              </a:r>
              <a:endParaRPr lang="en-IN" sz="16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9" name="Group 175"/>
          <p:cNvGrpSpPr/>
          <p:nvPr/>
        </p:nvGrpSpPr>
        <p:grpSpPr>
          <a:xfrm>
            <a:off x="7168680" y="8388360"/>
            <a:ext cx="4032000" cy="11160"/>
            <a:chOff x="7168680" y="8388360"/>
            <a:chExt cx="4032000" cy="11160"/>
          </a:xfrm>
        </p:grpSpPr>
        <p:sp>
          <p:nvSpPr>
            <p:cNvPr id="300" name="Freeform 176"/>
            <p:cNvSpPr/>
            <p:nvPr/>
          </p:nvSpPr>
          <p:spPr>
            <a:xfrm>
              <a:off x="7168680" y="8388360"/>
              <a:ext cx="4032000" cy="11160"/>
            </a:xfrm>
            <a:custGeom>
              <a:avLst/>
              <a:gdLst>
                <a:gd name="textAreaLeft" fmla="*/ 0 w 4032000"/>
                <a:gd name="textAreaRight" fmla="*/ 4032360 w 40320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87040" h="8509">
                  <a:moveTo>
                    <a:pt x="0" y="0"/>
                  </a:moveTo>
                  <a:lnTo>
                    <a:pt x="2987040" y="0"/>
                  </a:lnTo>
                  <a:lnTo>
                    <a:pt x="2987040" y="8509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480" rIns="90000" bIns="-334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1" name="Group 177"/>
          <p:cNvGrpSpPr/>
          <p:nvPr/>
        </p:nvGrpSpPr>
        <p:grpSpPr>
          <a:xfrm>
            <a:off x="7731000" y="8493120"/>
            <a:ext cx="1053000" cy="263160"/>
            <a:chOff x="7731000" y="8493120"/>
            <a:chExt cx="1053000" cy="263160"/>
          </a:xfrm>
        </p:grpSpPr>
        <p:sp>
          <p:nvSpPr>
            <p:cNvPr id="302" name="Freeform 178"/>
            <p:cNvSpPr/>
            <p:nvPr/>
          </p:nvSpPr>
          <p:spPr>
            <a:xfrm>
              <a:off x="7731000" y="8493120"/>
              <a:ext cx="1053000" cy="263160"/>
            </a:xfrm>
            <a:custGeom>
              <a:avLst/>
              <a:gdLst>
                <a:gd name="textAreaLeft" fmla="*/ 0 w 1053000"/>
                <a:gd name="textAreaRight" fmla="*/ 1053360 w 105300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780161" h="195072">
                  <a:moveTo>
                    <a:pt x="0" y="48768"/>
                  </a:moveTo>
                  <a:cubicBezTo>
                    <a:pt x="0" y="21844"/>
                    <a:pt x="23241" y="0"/>
                    <a:pt x="51816" y="0"/>
                  </a:cubicBezTo>
                  <a:lnTo>
                    <a:pt x="728345" y="0"/>
                  </a:lnTo>
                  <a:cubicBezTo>
                    <a:pt x="757047" y="0"/>
                    <a:pt x="780161" y="21844"/>
                    <a:pt x="780161" y="48768"/>
                  </a:cubicBezTo>
                  <a:lnTo>
                    <a:pt x="780161" y="146304"/>
                  </a:lnTo>
                  <a:cubicBezTo>
                    <a:pt x="780161" y="173228"/>
                    <a:pt x="756920" y="195072"/>
                    <a:pt x="728345" y="195072"/>
                  </a:cubicBezTo>
                  <a:lnTo>
                    <a:pt x="51816" y="195072"/>
                  </a:lnTo>
                  <a:cubicBezTo>
                    <a:pt x="23241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FF1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oup 179"/>
          <p:cNvGrpSpPr/>
          <p:nvPr/>
        </p:nvGrpSpPr>
        <p:grpSpPr>
          <a:xfrm>
            <a:off x="7731000" y="8466120"/>
            <a:ext cx="1091520" cy="299520"/>
            <a:chOff x="7731000" y="8466120"/>
            <a:chExt cx="1091520" cy="299520"/>
          </a:xfrm>
        </p:grpSpPr>
        <p:sp>
          <p:nvSpPr>
            <p:cNvPr id="304" name="Freeform 180"/>
            <p:cNvSpPr/>
            <p:nvPr/>
          </p:nvSpPr>
          <p:spPr>
            <a:xfrm>
              <a:off x="7731000" y="8493120"/>
              <a:ext cx="1091520" cy="272520"/>
            </a:xfrm>
            <a:custGeom>
              <a:avLst/>
              <a:gdLst>
                <a:gd name="textAreaLeft" fmla="*/ 0 w 1091520"/>
                <a:gd name="textAreaRight" fmla="*/ 1091880 w 1091520"/>
                <a:gd name="textAreaTop" fmla="*/ 0 h 272520"/>
                <a:gd name="textAreaBottom" fmla="*/ 272880 h 272520"/>
              </a:gdLst>
              <a:ahLst/>
              <a:cxnLst/>
              <a:rect l="textAreaLeft" t="textAreaTop" r="textAreaRight" b="textAreaBottom"/>
              <a:pathLst>
                <a:path w="780288" h="195072">
                  <a:moveTo>
                    <a:pt x="0" y="0"/>
                  </a:moveTo>
                  <a:lnTo>
                    <a:pt x="780288" y="0"/>
                  </a:lnTo>
                  <a:lnTo>
                    <a:pt x="780288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3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TextBox 181"/>
            <p:cNvSpPr/>
            <p:nvPr/>
          </p:nvSpPr>
          <p:spPr>
            <a:xfrm>
              <a:off x="7731000" y="8466120"/>
              <a:ext cx="1091520" cy="29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BE123C"/>
                  </a:solidFill>
                  <a:effectLst/>
                  <a:uFillTx/>
                  <a:latin typeface="Calibri (MS)"/>
                  <a:ea typeface="Calibri (MS)"/>
                </a:rPr>
                <a:t>Python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6" name="Group 182"/>
          <p:cNvGrpSpPr/>
          <p:nvPr/>
        </p:nvGrpSpPr>
        <p:grpSpPr>
          <a:xfrm>
            <a:off x="9129600" y="8467200"/>
            <a:ext cx="1151640" cy="263160"/>
            <a:chOff x="9129600" y="8467200"/>
            <a:chExt cx="1151640" cy="263160"/>
          </a:xfrm>
        </p:grpSpPr>
        <p:sp>
          <p:nvSpPr>
            <p:cNvPr id="307" name="Freeform 183"/>
            <p:cNvSpPr/>
            <p:nvPr/>
          </p:nvSpPr>
          <p:spPr>
            <a:xfrm>
              <a:off x="9129600" y="8467200"/>
              <a:ext cx="1151640" cy="263160"/>
            </a:xfrm>
            <a:custGeom>
              <a:avLst/>
              <a:gdLst>
                <a:gd name="textAreaLeft" fmla="*/ 0 w 1151640"/>
                <a:gd name="textAreaRight" fmla="*/ 1152000 w 115164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853313" h="195072">
                  <a:moveTo>
                    <a:pt x="0" y="48768"/>
                  </a:moveTo>
                  <a:cubicBezTo>
                    <a:pt x="0" y="21844"/>
                    <a:pt x="23241" y="0"/>
                    <a:pt x="51943" y="0"/>
                  </a:cubicBezTo>
                  <a:lnTo>
                    <a:pt x="801370" y="0"/>
                  </a:lnTo>
                  <a:cubicBezTo>
                    <a:pt x="830072" y="0"/>
                    <a:pt x="853313" y="21844"/>
                    <a:pt x="853313" y="48768"/>
                  </a:cubicBezTo>
                  <a:lnTo>
                    <a:pt x="853313" y="146304"/>
                  </a:lnTo>
                  <a:cubicBezTo>
                    <a:pt x="853313" y="173228"/>
                    <a:pt x="830072" y="195072"/>
                    <a:pt x="801370" y="195072"/>
                  </a:cubicBezTo>
                  <a:lnTo>
                    <a:pt x="51943" y="195072"/>
                  </a:lnTo>
                  <a:cubicBezTo>
                    <a:pt x="23241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FF1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8" name="Group 184"/>
          <p:cNvGrpSpPr/>
          <p:nvPr/>
        </p:nvGrpSpPr>
        <p:grpSpPr>
          <a:xfrm>
            <a:off x="9129600" y="8441280"/>
            <a:ext cx="1151640" cy="289080"/>
            <a:chOff x="9129600" y="8441280"/>
            <a:chExt cx="1151640" cy="289080"/>
          </a:xfrm>
        </p:grpSpPr>
        <p:sp>
          <p:nvSpPr>
            <p:cNvPr id="309" name="Freeform 185"/>
            <p:cNvSpPr/>
            <p:nvPr/>
          </p:nvSpPr>
          <p:spPr>
            <a:xfrm>
              <a:off x="9129600" y="8467200"/>
              <a:ext cx="1151640" cy="263160"/>
            </a:xfrm>
            <a:custGeom>
              <a:avLst/>
              <a:gdLst>
                <a:gd name="textAreaLeft" fmla="*/ 0 w 1151640"/>
                <a:gd name="textAreaRight" fmla="*/ 1152000 w 115164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853440" h="195072">
                  <a:moveTo>
                    <a:pt x="0" y="0"/>
                  </a:moveTo>
                  <a:lnTo>
                    <a:pt x="853440" y="0"/>
                  </a:lnTo>
                  <a:lnTo>
                    <a:pt x="853440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TextBox 186"/>
            <p:cNvSpPr/>
            <p:nvPr/>
          </p:nvSpPr>
          <p:spPr>
            <a:xfrm>
              <a:off x="9129600" y="8441280"/>
              <a:ext cx="1151640" cy="28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BE123C"/>
                  </a:solidFill>
                  <a:effectLst/>
                  <a:uFillTx/>
                  <a:latin typeface="Calibri (MS)"/>
                  <a:ea typeface="Calibri (MS)"/>
                </a:rPr>
                <a:t>Fault Tolerance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1" name="Group 192"/>
          <p:cNvGrpSpPr/>
          <p:nvPr/>
        </p:nvGrpSpPr>
        <p:grpSpPr>
          <a:xfrm>
            <a:off x="11936520" y="5376600"/>
            <a:ext cx="4701960" cy="3714120"/>
            <a:chOff x="11936520" y="5376600"/>
            <a:chExt cx="4701960" cy="3714120"/>
          </a:xfrm>
        </p:grpSpPr>
        <p:sp>
          <p:nvSpPr>
            <p:cNvPr id="312" name="Freeform 193"/>
            <p:cNvSpPr/>
            <p:nvPr/>
          </p:nvSpPr>
          <p:spPr>
            <a:xfrm>
              <a:off x="11941920" y="5382000"/>
              <a:ext cx="4690800" cy="3702960"/>
            </a:xfrm>
            <a:custGeom>
              <a:avLst/>
              <a:gdLst>
                <a:gd name="textAreaLeft" fmla="*/ 0 w 4690800"/>
                <a:gd name="textAreaRight" fmla="*/ 4691160 w 4690800"/>
                <a:gd name="textAreaTop" fmla="*/ 0 h 3702960"/>
                <a:gd name="textAreaBottom" fmla="*/ 3703320 h 3702960"/>
              </a:gdLst>
              <a:ahLst/>
              <a:cxnLst/>
              <a:rect l="textAreaLeft" t="textAreaTop" r="textAreaRight" b="textAreaBottom"/>
              <a:pathLst>
                <a:path w="3474847" h="2743200">
                  <a:moveTo>
                    <a:pt x="0" y="121920"/>
                  </a:moveTo>
                  <a:cubicBezTo>
                    <a:pt x="0" y="54610"/>
                    <a:pt x="54610" y="0"/>
                    <a:pt x="122047" y="0"/>
                  </a:cubicBezTo>
                  <a:lnTo>
                    <a:pt x="3352800" y="0"/>
                  </a:lnTo>
                  <a:cubicBezTo>
                    <a:pt x="3420110" y="0"/>
                    <a:pt x="3474847" y="54610"/>
                    <a:pt x="3474847" y="121920"/>
                  </a:cubicBezTo>
                  <a:lnTo>
                    <a:pt x="3474847" y="2621280"/>
                  </a:lnTo>
                  <a:cubicBezTo>
                    <a:pt x="3474847" y="2688590"/>
                    <a:pt x="3420237" y="2743200"/>
                    <a:pt x="3352800" y="2743200"/>
                  </a:cubicBezTo>
                  <a:lnTo>
                    <a:pt x="122047" y="2743200"/>
                  </a:lnTo>
                  <a:cubicBezTo>
                    <a:pt x="54737" y="2743200"/>
                    <a:pt x="0" y="2688590"/>
                    <a:pt x="0" y="2621280"/>
                  </a:cubicBezTo>
                  <a:close/>
                </a:path>
              </a:pathLst>
            </a:custGeom>
            <a:solidFill>
              <a:srgbClr val="F2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eform 194"/>
            <p:cNvSpPr/>
            <p:nvPr/>
          </p:nvSpPr>
          <p:spPr>
            <a:xfrm>
              <a:off x="11936520" y="5376600"/>
              <a:ext cx="4701960" cy="3714120"/>
            </a:xfrm>
            <a:custGeom>
              <a:avLst/>
              <a:gdLst>
                <a:gd name="textAreaLeft" fmla="*/ 0 w 4701960"/>
                <a:gd name="textAreaRight" fmla="*/ 4702320 w 4701960"/>
                <a:gd name="textAreaTop" fmla="*/ 0 h 3714120"/>
                <a:gd name="textAreaBottom" fmla="*/ 3714480 h 3714120"/>
              </a:gdLst>
              <a:ahLst/>
              <a:cxnLst/>
              <a:rect l="textAreaLeft" t="textAreaTop" r="textAreaRight" b="textAreaBottom"/>
              <a:pathLst>
                <a:path w="3483229" h="2751582">
                  <a:moveTo>
                    <a:pt x="0" y="126111"/>
                  </a:moveTo>
                  <a:cubicBezTo>
                    <a:pt x="0" y="56515"/>
                    <a:pt x="56515" y="0"/>
                    <a:pt x="126238" y="0"/>
                  </a:cubicBezTo>
                  <a:lnTo>
                    <a:pt x="3356991" y="0"/>
                  </a:lnTo>
                  <a:lnTo>
                    <a:pt x="3356991" y="4191"/>
                  </a:lnTo>
                  <a:lnTo>
                    <a:pt x="3356991" y="0"/>
                  </a:lnTo>
                  <a:cubicBezTo>
                    <a:pt x="3426714" y="0"/>
                    <a:pt x="3483229" y="56515"/>
                    <a:pt x="3483229" y="126111"/>
                  </a:cubicBezTo>
                  <a:lnTo>
                    <a:pt x="3479038" y="126111"/>
                  </a:lnTo>
                  <a:lnTo>
                    <a:pt x="3483229" y="126111"/>
                  </a:lnTo>
                  <a:lnTo>
                    <a:pt x="3483229" y="2625471"/>
                  </a:lnTo>
                  <a:lnTo>
                    <a:pt x="3479038" y="2625471"/>
                  </a:lnTo>
                  <a:lnTo>
                    <a:pt x="3483229" y="2625471"/>
                  </a:lnTo>
                  <a:cubicBezTo>
                    <a:pt x="3483229" y="2695194"/>
                    <a:pt x="3426714" y="2751582"/>
                    <a:pt x="3356991" y="2751582"/>
                  </a:cubicBezTo>
                  <a:lnTo>
                    <a:pt x="3356991" y="2747391"/>
                  </a:lnTo>
                  <a:lnTo>
                    <a:pt x="3356991" y="2751582"/>
                  </a:lnTo>
                  <a:lnTo>
                    <a:pt x="126238" y="2751582"/>
                  </a:lnTo>
                  <a:lnTo>
                    <a:pt x="126238" y="2747391"/>
                  </a:lnTo>
                  <a:lnTo>
                    <a:pt x="126238" y="2751582"/>
                  </a:lnTo>
                  <a:cubicBezTo>
                    <a:pt x="56515" y="2751582"/>
                    <a:pt x="0" y="2695067"/>
                    <a:pt x="0" y="2625471"/>
                  </a:cubicBezTo>
                  <a:lnTo>
                    <a:pt x="0" y="126111"/>
                  </a:lnTo>
                  <a:lnTo>
                    <a:pt x="4191" y="126111"/>
                  </a:lnTo>
                  <a:lnTo>
                    <a:pt x="0" y="126111"/>
                  </a:lnTo>
                  <a:moveTo>
                    <a:pt x="8509" y="126111"/>
                  </a:moveTo>
                  <a:lnTo>
                    <a:pt x="8509" y="2625471"/>
                  </a:lnTo>
                  <a:lnTo>
                    <a:pt x="4191" y="2625471"/>
                  </a:lnTo>
                  <a:lnTo>
                    <a:pt x="8509" y="2625471"/>
                  </a:lnTo>
                  <a:cubicBezTo>
                    <a:pt x="8509" y="2690495"/>
                    <a:pt x="61214" y="2743200"/>
                    <a:pt x="126238" y="2743200"/>
                  </a:cubicBezTo>
                  <a:lnTo>
                    <a:pt x="3356991" y="2743200"/>
                  </a:lnTo>
                  <a:cubicBezTo>
                    <a:pt x="3422015" y="2743200"/>
                    <a:pt x="3474720" y="2690495"/>
                    <a:pt x="3474720" y="2625471"/>
                  </a:cubicBezTo>
                  <a:lnTo>
                    <a:pt x="3474720" y="126111"/>
                  </a:lnTo>
                  <a:cubicBezTo>
                    <a:pt x="3474720" y="61087"/>
                    <a:pt x="3422015" y="8382"/>
                    <a:pt x="3356991" y="8382"/>
                  </a:cubicBezTo>
                  <a:lnTo>
                    <a:pt x="126238" y="8382"/>
                  </a:lnTo>
                  <a:lnTo>
                    <a:pt x="126238" y="4191"/>
                  </a:lnTo>
                  <a:lnTo>
                    <a:pt x="126238" y="8509"/>
                  </a:lnTo>
                  <a:cubicBezTo>
                    <a:pt x="61214" y="8509"/>
                    <a:pt x="8509" y="61214"/>
                    <a:pt x="8509" y="126111"/>
                  </a:cubicBez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4" name="Group 195"/>
          <p:cNvGrpSpPr/>
          <p:nvPr/>
        </p:nvGrpSpPr>
        <p:grpSpPr>
          <a:xfrm>
            <a:off x="12098160" y="5538240"/>
            <a:ext cx="4378320" cy="3390840"/>
            <a:chOff x="12098160" y="5538240"/>
            <a:chExt cx="4378320" cy="3390840"/>
          </a:xfrm>
        </p:grpSpPr>
        <p:sp>
          <p:nvSpPr>
            <p:cNvPr id="315" name="Freeform 196"/>
            <p:cNvSpPr/>
            <p:nvPr/>
          </p:nvSpPr>
          <p:spPr>
            <a:xfrm>
              <a:off x="12106800" y="5546880"/>
              <a:ext cx="4361400" cy="337392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3373920"/>
                <a:gd name="textAreaBottom" fmla="*/ 3374280 h 3373920"/>
              </a:gdLst>
              <a:ahLst/>
              <a:cxnLst/>
              <a:rect l="textAreaLeft" t="textAreaTop" r="textAreaRight" b="textAreaBottom"/>
              <a:pathLst>
                <a:path w="3230880" h="2499360">
                  <a:moveTo>
                    <a:pt x="0" y="0"/>
                  </a:moveTo>
                  <a:lnTo>
                    <a:pt x="3230880" y="0"/>
                  </a:lnTo>
                  <a:lnTo>
                    <a:pt x="323088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Freeform 197"/>
            <p:cNvSpPr/>
            <p:nvPr/>
          </p:nvSpPr>
          <p:spPr>
            <a:xfrm>
              <a:off x="12098160" y="5538240"/>
              <a:ext cx="4378320" cy="3390840"/>
            </a:xfrm>
            <a:custGeom>
              <a:avLst/>
              <a:gdLst>
                <a:gd name="textAreaLeft" fmla="*/ 0 w 4378320"/>
                <a:gd name="textAreaRight" fmla="*/ 4378680 w 4378320"/>
                <a:gd name="textAreaTop" fmla="*/ 0 h 3390840"/>
                <a:gd name="textAreaBottom" fmla="*/ 3391200 h 3390840"/>
              </a:gdLst>
              <a:ahLst/>
              <a:cxnLst/>
              <a:rect l="textAreaLeft" t="textAreaTop" r="textAreaRight" b="textAreaBottom"/>
              <a:pathLst>
                <a:path w="3243580" h="2512060">
                  <a:moveTo>
                    <a:pt x="6350" y="0"/>
                  </a:moveTo>
                  <a:lnTo>
                    <a:pt x="3237230" y="0"/>
                  </a:lnTo>
                  <a:cubicBezTo>
                    <a:pt x="3240786" y="0"/>
                    <a:pt x="3243580" y="2794"/>
                    <a:pt x="3243580" y="6350"/>
                  </a:cubicBezTo>
                  <a:lnTo>
                    <a:pt x="3243580" y="2505710"/>
                  </a:lnTo>
                  <a:cubicBezTo>
                    <a:pt x="3243580" y="2509266"/>
                    <a:pt x="3240786" y="2512060"/>
                    <a:pt x="3237230" y="2512060"/>
                  </a:cubicBezTo>
                  <a:lnTo>
                    <a:pt x="6350" y="2512060"/>
                  </a:lnTo>
                  <a:cubicBezTo>
                    <a:pt x="2794" y="2512060"/>
                    <a:pt x="0" y="2509266"/>
                    <a:pt x="0" y="250571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505710"/>
                  </a:lnTo>
                  <a:lnTo>
                    <a:pt x="6350" y="2505710"/>
                  </a:lnTo>
                  <a:lnTo>
                    <a:pt x="6350" y="2499360"/>
                  </a:lnTo>
                  <a:lnTo>
                    <a:pt x="3237230" y="2499360"/>
                  </a:lnTo>
                  <a:lnTo>
                    <a:pt x="3237230" y="2505710"/>
                  </a:lnTo>
                  <a:lnTo>
                    <a:pt x="3230880" y="2505710"/>
                  </a:lnTo>
                  <a:lnTo>
                    <a:pt x="3230880" y="6350"/>
                  </a:lnTo>
                  <a:lnTo>
                    <a:pt x="3237230" y="6350"/>
                  </a:lnTo>
                  <a:lnTo>
                    <a:pt x="323723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7" name="Group 198"/>
          <p:cNvGrpSpPr/>
          <p:nvPr/>
        </p:nvGrpSpPr>
        <p:grpSpPr>
          <a:xfrm>
            <a:off x="12106800" y="5546880"/>
            <a:ext cx="4361400" cy="82080"/>
            <a:chOff x="12106800" y="5546880"/>
            <a:chExt cx="4361400" cy="82080"/>
          </a:xfrm>
        </p:grpSpPr>
        <p:sp>
          <p:nvSpPr>
            <p:cNvPr id="318" name="Freeform 199"/>
            <p:cNvSpPr/>
            <p:nvPr/>
          </p:nvSpPr>
          <p:spPr>
            <a:xfrm>
              <a:off x="12106800" y="5546880"/>
              <a:ext cx="4361400" cy="82080"/>
            </a:xfrm>
            <a:custGeom>
              <a:avLst/>
              <a:gdLst>
                <a:gd name="textAreaLeft" fmla="*/ 0 w 4361400"/>
                <a:gd name="textAreaRight" fmla="*/ 4361760 w 436140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3230880" h="60960">
                  <a:moveTo>
                    <a:pt x="0" y="0"/>
                  </a:moveTo>
                  <a:lnTo>
                    <a:pt x="3230880" y="0"/>
                  </a:lnTo>
                  <a:lnTo>
                    <a:pt x="32308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6A3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37440" rIns="90000" bIns="3744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9" name="Group 200"/>
          <p:cNvGrpSpPr/>
          <p:nvPr/>
        </p:nvGrpSpPr>
        <p:grpSpPr>
          <a:xfrm>
            <a:off x="12385800" y="5727240"/>
            <a:ext cx="758160" cy="758160"/>
            <a:chOff x="12385800" y="5727240"/>
            <a:chExt cx="758160" cy="758160"/>
          </a:xfrm>
        </p:grpSpPr>
        <p:sp>
          <p:nvSpPr>
            <p:cNvPr id="320" name="Freeform 201"/>
            <p:cNvSpPr/>
            <p:nvPr/>
          </p:nvSpPr>
          <p:spPr>
            <a:xfrm>
              <a:off x="12403080" y="574416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306"/>
                    <a:pt x="0" y="268224"/>
                  </a:cubicBezTo>
                  <a:close/>
                </a:path>
              </a:pathLst>
            </a:custGeom>
            <a:solidFill>
              <a:srgbClr val="16A34A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Freeform 202"/>
            <p:cNvSpPr/>
            <p:nvPr/>
          </p:nvSpPr>
          <p:spPr>
            <a:xfrm>
              <a:off x="12385800" y="5727240"/>
              <a:ext cx="758160" cy="758160"/>
            </a:xfrm>
            <a:custGeom>
              <a:avLst/>
              <a:gdLst>
                <a:gd name="textAreaLeft" fmla="*/ 0 w 758160"/>
                <a:gd name="textAreaRight" fmla="*/ 758520 w 758160"/>
                <a:gd name="textAreaTop" fmla="*/ 0 h 758160"/>
                <a:gd name="textAreaBottom" fmla="*/ 758520 h 758160"/>
              </a:gdLst>
              <a:ahLst/>
              <a:cxnLst/>
              <a:rect l="textAreaLeft" t="textAreaTop" r="textAreaRight" b="textAreaBottom"/>
              <a:pathLst>
                <a:path w="561848" h="561848">
                  <a:moveTo>
                    <a:pt x="0" y="280924"/>
                  </a:moveTo>
                  <a:cubicBezTo>
                    <a:pt x="0" y="125730"/>
                    <a:pt x="125730" y="0"/>
                    <a:pt x="280924" y="0"/>
                  </a:cubicBezTo>
                  <a:lnTo>
                    <a:pt x="280924" y="12700"/>
                  </a:lnTo>
                  <a:lnTo>
                    <a:pt x="280924" y="0"/>
                  </a:lnTo>
                  <a:cubicBezTo>
                    <a:pt x="436118" y="0"/>
                    <a:pt x="561848" y="125730"/>
                    <a:pt x="561848" y="280924"/>
                  </a:cubicBezTo>
                  <a:lnTo>
                    <a:pt x="549148" y="280924"/>
                  </a:lnTo>
                  <a:lnTo>
                    <a:pt x="561848" y="280924"/>
                  </a:lnTo>
                  <a:cubicBezTo>
                    <a:pt x="561848" y="436118"/>
                    <a:pt x="436118" y="561848"/>
                    <a:pt x="280924" y="561848"/>
                  </a:cubicBezTo>
                  <a:lnTo>
                    <a:pt x="280924" y="549148"/>
                  </a:lnTo>
                  <a:lnTo>
                    <a:pt x="280924" y="561848"/>
                  </a:lnTo>
                  <a:cubicBezTo>
                    <a:pt x="125730" y="561848"/>
                    <a:pt x="0" y="436118"/>
                    <a:pt x="0" y="280924"/>
                  </a:cubicBezTo>
                  <a:lnTo>
                    <a:pt x="12700" y="280924"/>
                  </a:lnTo>
                  <a:lnTo>
                    <a:pt x="25400" y="280924"/>
                  </a:lnTo>
                  <a:lnTo>
                    <a:pt x="12700" y="280924"/>
                  </a:lnTo>
                  <a:lnTo>
                    <a:pt x="0" y="280924"/>
                  </a:lnTo>
                  <a:moveTo>
                    <a:pt x="25400" y="280924"/>
                  </a:moveTo>
                  <a:cubicBezTo>
                    <a:pt x="25400" y="287909"/>
                    <a:pt x="19685" y="293624"/>
                    <a:pt x="12700" y="293624"/>
                  </a:cubicBezTo>
                  <a:cubicBezTo>
                    <a:pt x="5715" y="293624"/>
                    <a:pt x="0" y="287909"/>
                    <a:pt x="0" y="280924"/>
                  </a:cubicBezTo>
                  <a:cubicBezTo>
                    <a:pt x="0" y="273939"/>
                    <a:pt x="5715" y="268224"/>
                    <a:pt x="12700" y="268224"/>
                  </a:cubicBezTo>
                  <a:cubicBezTo>
                    <a:pt x="19685" y="268224"/>
                    <a:pt x="25400" y="273939"/>
                    <a:pt x="25400" y="280924"/>
                  </a:cubicBezTo>
                  <a:cubicBezTo>
                    <a:pt x="25400" y="422021"/>
                    <a:pt x="139827" y="536448"/>
                    <a:pt x="280924" y="536448"/>
                  </a:cubicBezTo>
                  <a:cubicBezTo>
                    <a:pt x="422021" y="536448"/>
                    <a:pt x="536448" y="422021"/>
                    <a:pt x="536448" y="280924"/>
                  </a:cubicBezTo>
                  <a:cubicBezTo>
                    <a:pt x="536448" y="139827"/>
                    <a:pt x="422021" y="25400"/>
                    <a:pt x="280924" y="25400"/>
                  </a:cubicBezTo>
                  <a:lnTo>
                    <a:pt x="280924" y="12700"/>
                  </a:lnTo>
                  <a:lnTo>
                    <a:pt x="280924" y="25400"/>
                  </a:lnTo>
                  <a:cubicBezTo>
                    <a:pt x="139827" y="25400"/>
                    <a:pt x="25400" y="139827"/>
                    <a:pt x="25400" y="280924"/>
                  </a:cubicBezTo>
                  <a:close/>
                </a:path>
              </a:pathLst>
            </a:custGeom>
            <a:solidFill>
              <a:srgbClr val="16A3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2" name="Group 203"/>
          <p:cNvGrpSpPr/>
          <p:nvPr/>
        </p:nvGrpSpPr>
        <p:grpSpPr>
          <a:xfrm>
            <a:off x="12403080" y="5654160"/>
            <a:ext cx="723960" cy="813960"/>
            <a:chOff x="12403080" y="5654160"/>
            <a:chExt cx="723960" cy="813960"/>
          </a:xfrm>
        </p:grpSpPr>
        <p:sp>
          <p:nvSpPr>
            <p:cNvPr id="323" name="Freeform 204"/>
            <p:cNvSpPr/>
            <p:nvPr/>
          </p:nvSpPr>
          <p:spPr>
            <a:xfrm>
              <a:off x="12403080" y="5744160"/>
              <a:ext cx="723960" cy="723960"/>
            </a:xfrm>
            <a:custGeom>
              <a:avLst/>
              <a:gdLst>
                <a:gd name="textAreaLeft" fmla="*/ 0 w 723960"/>
                <a:gd name="textAreaRight" fmla="*/ 724320 w 723960"/>
                <a:gd name="textAreaTop" fmla="*/ 0 h 723960"/>
                <a:gd name="textAreaBottom" fmla="*/ 724320 h 723960"/>
              </a:gdLst>
              <a:ahLst/>
              <a:cxnLst/>
              <a:rect l="textAreaLeft" t="textAreaTop" r="textAreaRight" b="textAreaBottom"/>
              <a:pathLst>
                <a:path w="536448" h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Box 205"/>
            <p:cNvSpPr/>
            <p:nvPr/>
          </p:nvSpPr>
          <p:spPr>
            <a:xfrm>
              <a:off x="12403080" y="5654160"/>
              <a:ext cx="723960" cy="81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3671"/>
                </a:lnSpc>
              </a:pPr>
              <a:r>
                <a:rPr lang="en-US" sz="3060" b="0" u="none" strike="noStrike">
                  <a:solidFill>
                    <a:srgbClr val="000000"/>
                  </a:solidFill>
                  <a:effectLst/>
                  <a:uFillTx/>
                  <a:latin typeface="Calibri (MS)"/>
                  <a:ea typeface="Calibri (MS)"/>
                </a:rPr>
                <a:t>🌊</a:t>
              </a:r>
              <a:endParaRPr lang="en-IN" sz="30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roup 206"/>
          <p:cNvGrpSpPr/>
          <p:nvPr/>
        </p:nvGrpSpPr>
        <p:grpSpPr>
          <a:xfrm>
            <a:off x="13341240" y="5735160"/>
            <a:ext cx="2962440" cy="255960"/>
            <a:chOff x="13341240" y="5735160"/>
            <a:chExt cx="2962440" cy="255960"/>
          </a:xfrm>
        </p:grpSpPr>
        <p:sp>
          <p:nvSpPr>
            <p:cNvPr id="326" name="Freeform 207"/>
            <p:cNvSpPr/>
            <p:nvPr/>
          </p:nvSpPr>
          <p:spPr>
            <a:xfrm>
              <a:off x="13341240" y="5760720"/>
              <a:ext cx="2962440" cy="230040"/>
            </a:xfrm>
            <a:custGeom>
              <a:avLst/>
              <a:gdLst>
                <a:gd name="textAreaLeft" fmla="*/ 0 w 2962440"/>
                <a:gd name="textAreaRight" fmla="*/ 2962800 w 296244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2194560" h="170688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blipFill rotWithShape="0">
              <a:blip r:embed="rId3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TextBox 208"/>
            <p:cNvSpPr/>
            <p:nvPr/>
          </p:nvSpPr>
          <p:spPr>
            <a:xfrm>
              <a:off x="13341240" y="5735160"/>
              <a:ext cx="2962440" cy="25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403"/>
                </a:lnSpc>
              </a:pPr>
              <a:r>
                <a:rPr lang="en-US" sz="1170" b="1" u="none" spc="269" strike="noStrike">
                  <a:solidFill>
                    <a:srgbClr val="9CA3AF"/>
                  </a:solidFill>
                  <a:effectLst/>
                  <a:uFillTx/>
                  <a:latin typeface="Calibri (MS) Bold"/>
                  <a:ea typeface="Calibri (MS) Bold"/>
                </a:rPr>
                <a:t>FEATURE 06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roup 209"/>
          <p:cNvGrpSpPr/>
          <p:nvPr/>
        </p:nvGrpSpPr>
        <p:grpSpPr>
          <a:xfrm>
            <a:off x="12403080" y="6457320"/>
            <a:ext cx="3933360" cy="544680"/>
            <a:chOff x="12403080" y="6457320"/>
            <a:chExt cx="3933360" cy="544680"/>
          </a:xfrm>
        </p:grpSpPr>
        <p:sp>
          <p:nvSpPr>
            <p:cNvPr id="329" name="Freeform 210"/>
            <p:cNvSpPr/>
            <p:nvPr/>
          </p:nvSpPr>
          <p:spPr>
            <a:xfrm>
              <a:off x="12403080" y="6534360"/>
              <a:ext cx="3933360" cy="46728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467280"/>
                <a:gd name="textAreaBottom" fmla="*/ 467640 h 467280"/>
              </a:gdLst>
              <a:ahLst/>
              <a:cxnLst/>
              <a:rect l="textAreaLeft" t="textAreaTop" r="textAreaRight" b="textAreaBottom"/>
              <a:pathLst>
                <a:path w="2913888" h="346508">
                  <a:moveTo>
                    <a:pt x="0" y="0"/>
                  </a:moveTo>
                  <a:lnTo>
                    <a:pt x="2913888" y="0"/>
                  </a:lnTo>
                  <a:lnTo>
                    <a:pt x="2913888" y="346508"/>
                  </a:lnTo>
                  <a:lnTo>
                    <a:pt x="0" y="346508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TextBox 211"/>
            <p:cNvSpPr/>
            <p:nvPr/>
          </p:nvSpPr>
          <p:spPr>
            <a:xfrm>
              <a:off x="12403080" y="6457320"/>
              <a:ext cx="3933360" cy="54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280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2340" b="1" u="none" strike="noStrike">
                  <a:solidFill>
                    <a:srgbClr val="111827"/>
                  </a:solidFill>
                  <a:effectLst/>
                  <a:uFillTx/>
                  <a:latin typeface="Calibri (MS) Bold"/>
                  <a:ea typeface="Calibri (MS) Bold"/>
                </a:rPr>
                <a:t>100% Offline Privacy </a:t>
              </a:r>
              <a:endParaRPr lang="en-IN" sz="234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1" name="Group 212"/>
          <p:cNvGrpSpPr/>
          <p:nvPr/>
        </p:nvGrpSpPr>
        <p:grpSpPr>
          <a:xfrm>
            <a:off x="12403080" y="6989400"/>
            <a:ext cx="3933360" cy="943560"/>
            <a:chOff x="12403080" y="6989400"/>
            <a:chExt cx="3933360" cy="943560"/>
          </a:xfrm>
        </p:grpSpPr>
        <p:sp>
          <p:nvSpPr>
            <p:cNvPr id="332" name="Freeform 213"/>
            <p:cNvSpPr/>
            <p:nvPr/>
          </p:nvSpPr>
          <p:spPr>
            <a:xfrm>
              <a:off x="12403080" y="7027920"/>
              <a:ext cx="3933360" cy="905040"/>
            </a:xfrm>
            <a:custGeom>
              <a:avLst/>
              <a:gdLst>
                <a:gd name="textAreaLeft" fmla="*/ 0 w 3933360"/>
                <a:gd name="textAreaRight" fmla="*/ 3933720 w 3933360"/>
                <a:gd name="textAreaTop" fmla="*/ 0 h 905040"/>
                <a:gd name="textAreaBottom" fmla="*/ 905400 h 905040"/>
              </a:gdLst>
              <a:ahLst/>
              <a:cxnLst/>
              <a:rect l="textAreaLeft" t="textAreaTop" r="textAreaRight" b="textAreaBottom"/>
              <a:pathLst>
                <a:path w="2913888" h="670560">
                  <a:moveTo>
                    <a:pt x="0" y="0"/>
                  </a:moveTo>
                  <a:lnTo>
                    <a:pt x="2913888" y="0"/>
                  </a:lnTo>
                  <a:lnTo>
                    <a:pt x="2913888" y="670560"/>
                  </a:lnTo>
                  <a:lnTo>
                    <a:pt x="0" y="670560"/>
                  </a:lnTo>
                  <a:close/>
                </a:path>
              </a:pathLst>
            </a:custGeom>
            <a:blipFill rotWithShape="0">
              <a:blip r:embed="rId3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TextBox 214"/>
            <p:cNvSpPr/>
            <p:nvPr/>
          </p:nvSpPr>
          <p:spPr>
            <a:xfrm>
              <a:off x="12403080" y="6989400"/>
              <a:ext cx="393336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945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620" b="0" u="none" strike="noStrike">
                  <a:solidFill>
                    <a:srgbClr val="6B7280"/>
                  </a:solidFill>
                  <a:effectLst/>
                  <a:uFillTx/>
                  <a:latin typeface="Calibri (MS)"/>
                  <a:ea typeface="Calibri (MS)"/>
                </a:rPr>
                <a:t> Full data sovereignty with no external API calls or cloud dependencies. </a:t>
              </a:r>
              <a:endParaRPr lang="en-IN" sz="16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4" name="Group 215"/>
          <p:cNvGrpSpPr/>
          <p:nvPr/>
        </p:nvGrpSpPr>
        <p:grpSpPr>
          <a:xfrm>
            <a:off x="12271320" y="8388360"/>
            <a:ext cx="4032000" cy="11160"/>
            <a:chOff x="12271320" y="8388360"/>
            <a:chExt cx="4032000" cy="11160"/>
          </a:xfrm>
        </p:grpSpPr>
        <p:sp>
          <p:nvSpPr>
            <p:cNvPr id="335" name="Freeform 216"/>
            <p:cNvSpPr/>
            <p:nvPr/>
          </p:nvSpPr>
          <p:spPr>
            <a:xfrm>
              <a:off x="12271320" y="8388360"/>
              <a:ext cx="4032000" cy="11160"/>
            </a:xfrm>
            <a:custGeom>
              <a:avLst/>
              <a:gdLst>
                <a:gd name="textAreaLeft" fmla="*/ 0 w 4032000"/>
                <a:gd name="textAreaRight" fmla="*/ 4032360 w 403200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987040" h="8509">
                  <a:moveTo>
                    <a:pt x="0" y="0"/>
                  </a:moveTo>
                  <a:lnTo>
                    <a:pt x="2987040" y="0"/>
                  </a:lnTo>
                  <a:lnTo>
                    <a:pt x="2987040" y="8509"/>
                  </a:lnTo>
                  <a:lnTo>
                    <a:pt x="0" y="8509"/>
                  </a:lnTo>
                  <a:close/>
                </a:path>
              </a:pathLst>
            </a:custGeom>
            <a:solidFill>
              <a:srgbClr val="E0E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3480" rIns="90000" bIns="-334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6" name="Group 217"/>
          <p:cNvGrpSpPr/>
          <p:nvPr/>
        </p:nvGrpSpPr>
        <p:grpSpPr>
          <a:xfrm>
            <a:off x="12628440" y="8531280"/>
            <a:ext cx="1447920" cy="263160"/>
            <a:chOff x="12628440" y="8531280"/>
            <a:chExt cx="1447920" cy="263160"/>
          </a:xfrm>
        </p:grpSpPr>
        <p:sp>
          <p:nvSpPr>
            <p:cNvPr id="337" name="Freeform 218"/>
            <p:cNvSpPr/>
            <p:nvPr/>
          </p:nvSpPr>
          <p:spPr>
            <a:xfrm>
              <a:off x="12628440" y="8531280"/>
              <a:ext cx="1447920" cy="263160"/>
            </a:xfrm>
            <a:custGeom>
              <a:avLst/>
              <a:gdLst>
                <a:gd name="textAreaLeft" fmla="*/ 0 w 1447920"/>
                <a:gd name="textAreaRight" fmla="*/ 1448280 w 14479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1072896" h="195072">
                  <a:moveTo>
                    <a:pt x="0" y="48768"/>
                  </a:moveTo>
                  <a:cubicBezTo>
                    <a:pt x="0" y="21844"/>
                    <a:pt x="23368" y="0"/>
                    <a:pt x="52197" y="0"/>
                  </a:cubicBezTo>
                  <a:lnTo>
                    <a:pt x="1020699" y="0"/>
                  </a:lnTo>
                  <a:cubicBezTo>
                    <a:pt x="1049528" y="0"/>
                    <a:pt x="1072896" y="21844"/>
                    <a:pt x="1072896" y="48768"/>
                  </a:cubicBezTo>
                  <a:lnTo>
                    <a:pt x="1072896" y="146304"/>
                  </a:lnTo>
                  <a:cubicBezTo>
                    <a:pt x="1072896" y="173228"/>
                    <a:pt x="1049528" y="195072"/>
                    <a:pt x="1020699" y="195072"/>
                  </a:cubicBezTo>
                  <a:lnTo>
                    <a:pt x="52197" y="195072"/>
                  </a:lnTo>
                  <a:cubicBezTo>
                    <a:pt x="23368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0FD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8" name="Group 219"/>
          <p:cNvGrpSpPr/>
          <p:nvPr/>
        </p:nvGrpSpPr>
        <p:grpSpPr>
          <a:xfrm>
            <a:off x="12714480" y="8493120"/>
            <a:ext cx="1510920" cy="301320"/>
            <a:chOff x="12714480" y="8493120"/>
            <a:chExt cx="1510920" cy="301320"/>
          </a:xfrm>
        </p:grpSpPr>
        <p:sp>
          <p:nvSpPr>
            <p:cNvPr id="339" name="Freeform 220"/>
            <p:cNvSpPr/>
            <p:nvPr/>
          </p:nvSpPr>
          <p:spPr>
            <a:xfrm>
              <a:off x="12714480" y="8520120"/>
              <a:ext cx="1510920" cy="274320"/>
            </a:xfrm>
            <a:custGeom>
              <a:avLst/>
              <a:gdLst>
                <a:gd name="textAreaLeft" fmla="*/ 0 w 1510920"/>
                <a:gd name="textAreaRight" fmla="*/ 1511280 w 151092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1072896" h="195072">
                  <a:moveTo>
                    <a:pt x="0" y="0"/>
                  </a:moveTo>
                  <a:lnTo>
                    <a:pt x="1072896" y="0"/>
                  </a:lnTo>
                  <a:lnTo>
                    <a:pt x="1072896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3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TextBox 221"/>
            <p:cNvSpPr/>
            <p:nvPr/>
          </p:nvSpPr>
          <p:spPr>
            <a:xfrm>
              <a:off x="12714480" y="8493120"/>
              <a:ext cx="151092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15803D"/>
                  </a:solidFill>
                  <a:effectLst/>
                  <a:uFillTx/>
                  <a:latin typeface="Calibri (MS)"/>
                  <a:ea typeface="Calibri (MS)"/>
                </a:rPr>
                <a:t>Local Inference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1" name="Group 222"/>
          <p:cNvGrpSpPr/>
          <p:nvPr/>
        </p:nvGrpSpPr>
        <p:grpSpPr>
          <a:xfrm>
            <a:off x="14572800" y="8497440"/>
            <a:ext cx="1053000" cy="263160"/>
            <a:chOff x="14572800" y="8497440"/>
            <a:chExt cx="1053000" cy="263160"/>
          </a:xfrm>
        </p:grpSpPr>
        <p:sp>
          <p:nvSpPr>
            <p:cNvPr id="342" name="Freeform 223"/>
            <p:cNvSpPr/>
            <p:nvPr/>
          </p:nvSpPr>
          <p:spPr>
            <a:xfrm>
              <a:off x="14572800" y="8497440"/>
              <a:ext cx="1053000" cy="263160"/>
            </a:xfrm>
            <a:custGeom>
              <a:avLst/>
              <a:gdLst>
                <a:gd name="textAreaLeft" fmla="*/ 0 w 1053000"/>
                <a:gd name="textAreaRight" fmla="*/ 1053360 w 105300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780161" h="195072">
                  <a:moveTo>
                    <a:pt x="0" y="48768"/>
                  </a:moveTo>
                  <a:cubicBezTo>
                    <a:pt x="0" y="21844"/>
                    <a:pt x="23241" y="0"/>
                    <a:pt x="51816" y="0"/>
                  </a:cubicBezTo>
                  <a:lnTo>
                    <a:pt x="728345" y="0"/>
                  </a:lnTo>
                  <a:cubicBezTo>
                    <a:pt x="757047" y="0"/>
                    <a:pt x="780161" y="21844"/>
                    <a:pt x="780161" y="48768"/>
                  </a:cubicBezTo>
                  <a:lnTo>
                    <a:pt x="780161" y="146304"/>
                  </a:lnTo>
                  <a:cubicBezTo>
                    <a:pt x="780161" y="173228"/>
                    <a:pt x="756920" y="195072"/>
                    <a:pt x="728345" y="195072"/>
                  </a:cubicBezTo>
                  <a:lnTo>
                    <a:pt x="51816" y="195072"/>
                  </a:lnTo>
                  <a:cubicBezTo>
                    <a:pt x="23241" y="195072"/>
                    <a:pt x="0" y="173228"/>
                    <a:pt x="0" y="146304"/>
                  </a:cubicBezTo>
                  <a:close/>
                </a:path>
              </a:pathLst>
            </a:custGeom>
            <a:solidFill>
              <a:srgbClr val="F0FD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3" name="Group 224"/>
          <p:cNvGrpSpPr/>
          <p:nvPr/>
        </p:nvGrpSpPr>
        <p:grpSpPr>
          <a:xfrm>
            <a:off x="14670000" y="8471880"/>
            <a:ext cx="1036800" cy="284400"/>
            <a:chOff x="14670000" y="8471880"/>
            <a:chExt cx="1036800" cy="284400"/>
          </a:xfrm>
        </p:grpSpPr>
        <p:sp>
          <p:nvSpPr>
            <p:cNvPr id="344" name="Freeform 225"/>
            <p:cNvSpPr/>
            <p:nvPr/>
          </p:nvSpPr>
          <p:spPr>
            <a:xfrm>
              <a:off x="14670000" y="8497440"/>
              <a:ext cx="1036800" cy="258840"/>
            </a:xfrm>
            <a:custGeom>
              <a:avLst/>
              <a:gdLst>
                <a:gd name="textAreaLeft" fmla="*/ 0 w 1036800"/>
                <a:gd name="textAreaRight" fmla="*/ 1037160 w 1036800"/>
                <a:gd name="textAreaTop" fmla="*/ 0 h 258840"/>
                <a:gd name="textAreaBottom" fmla="*/ 259200 h 258840"/>
              </a:gdLst>
              <a:ahLst/>
              <a:cxnLst/>
              <a:rect l="textAreaLeft" t="textAreaTop" r="textAreaRight" b="textAreaBottom"/>
              <a:pathLst>
                <a:path w="780288" h="195072">
                  <a:moveTo>
                    <a:pt x="0" y="0"/>
                  </a:moveTo>
                  <a:lnTo>
                    <a:pt x="780288" y="0"/>
                  </a:lnTo>
                  <a:lnTo>
                    <a:pt x="780288" y="195072"/>
                  </a:lnTo>
                  <a:lnTo>
                    <a:pt x="0" y="195072"/>
                  </a:lnTo>
                  <a:close/>
                </a:path>
              </a:pathLst>
            </a:custGeom>
            <a:blipFill rotWithShape="0">
              <a:blip r:embed="rId3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TextBox 226"/>
            <p:cNvSpPr/>
            <p:nvPr/>
          </p:nvSpPr>
          <p:spPr>
            <a:xfrm>
              <a:off x="14670000" y="8471880"/>
              <a:ext cx="1036800" cy="28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 defTabSz="914400">
                <a:lnSpc>
                  <a:spcPts val="1403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n-US" sz="1170" b="0" u="none" strike="noStrike">
                  <a:solidFill>
                    <a:srgbClr val="15803D"/>
                  </a:solidFill>
                  <a:effectLst/>
                  <a:uFillTx/>
                  <a:latin typeface="Calibri (MS)"/>
                  <a:ea typeface="Calibri (MS)"/>
                </a:rPr>
                <a:t>Ollama </a:t>
              </a:r>
              <a:endParaRPr lang="en-IN" sz="11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6" name="Group 232"/>
          <p:cNvGrpSpPr/>
          <p:nvPr/>
        </p:nvGrpSpPr>
        <p:grpSpPr>
          <a:xfrm>
            <a:off x="1243440" y="9919080"/>
            <a:ext cx="1974600" cy="334800"/>
            <a:chOff x="1243440" y="9919080"/>
            <a:chExt cx="1974600" cy="334800"/>
          </a:xfrm>
        </p:grpSpPr>
        <p:sp>
          <p:nvSpPr>
            <p:cNvPr id="347" name="Freeform 233"/>
            <p:cNvSpPr/>
            <p:nvPr/>
          </p:nvSpPr>
          <p:spPr>
            <a:xfrm>
              <a:off x="1243440" y="9957960"/>
              <a:ext cx="1974600" cy="295920"/>
            </a:xfrm>
            <a:custGeom>
              <a:avLst/>
              <a:gdLst>
                <a:gd name="textAreaLeft" fmla="*/ 0 w 1974600"/>
                <a:gd name="textAreaRight" fmla="*/ 1974960 w 1974600"/>
                <a:gd name="textAreaTop" fmla="*/ 0 h 295920"/>
                <a:gd name="textAreaBottom" fmla="*/ 296280 h 295920"/>
              </a:gdLst>
              <a:ahLst/>
              <a:cxnLst/>
              <a:rect l="textAreaLeft" t="textAreaTop" r="textAreaRight" b="textAreaBottom"/>
              <a:pathLst>
                <a:path w="1463040" h="219456">
                  <a:moveTo>
                    <a:pt x="0" y="0"/>
                  </a:moveTo>
                  <a:lnTo>
                    <a:pt x="1463040" y="0"/>
                  </a:lnTo>
                  <a:lnTo>
                    <a:pt x="1463040" y="219456"/>
                  </a:lnTo>
                  <a:lnTo>
                    <a:pt x="0" y="219456"/>
                  </a:lnTo>
                  <a:close/>
                </a:path>
              </a:pathLst>
            </a:custGeom>
            <a:blipFill rotWithShape="0">
              <a:blip r:embed="rId3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TextBox 234"/>
            <p:cNvSpPr/>
            <p:nvPr/>
          </p:nvSpPr>
          <p:spPr>
            <a:xfrm>
              <a:off x="1243440" y="9919080"/>
              <a:ext cx="1974600" cy="33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ts val="1621"/>
                </a:lnSpc>
              </a:pPr>
              <a:r>
                <a:rPr lang="en-US" sz="1350" b="0" u="none" strike="noStrike">
                  <a:solidFill>
                    <a:srgbClr val="BBBBBB"/>
                  </a:solidFill>
                  <a:effectLst/>
                  <a:uFillTx/>
                  <a:latin typeface="Calibri (MS)"/>
                  <a:ea typeface="Calibri (MS)"/>
                </a:rPr>
                <a:t>© Indium</a:t>
              </a:r>
              <a:endParaRPr lang="en-IN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9" name="Group 235"/>
          <p:cNvGrpSpPr/>
          <p:nvPr/>
        </p:nvGrpSpPr>
        <p:grpSpPr>
          <a:xfrm>
            <a:off x="13456440" y="8849520"/>
            <a:ext cx="4831200" cy="1437120"/>
            <a:chOff x="13456440" y="8849520"/>
            <a:chExt cx="4831200" cy="1437120"/>
          </a:xfrm>
        </p:grpSpPr>
        <p:sp>
          <p:nvSpPr>
            <p:cNvPr id="350" name="Freeform 236"/>
            <p:cNvSpPr/>
            <p:nvPr/>
          </p:nvSpPr>
          <p:spPr>
            <a:xfrm>
              <a:off x="13456440" y="8849520"/>
              <a:ext cx="4831200" cy="1437120"/>
            </a:xfrm>
            <a:custGeom>
              <a:avLst/>
              <a:gdLst>
                <a:gd name="textAreaLeft" fmla="*/ 0 w 4831200"/>
                <a:gd name="textAreaRight" fmla="*/ 4831560 w 4831200"/>
                <a:gd name="textAreaTop" fmla="*/ 0 h 1437120"/>
                <a:gd name="textAreaBottom" fmla="*/ 1437480 h 1437120"/>
              </a:gdLst>
              <a:ahLst/>
              <a:cxnLst/>
              <a:rect l="textAreaLeft" t="textAreaTop" r="textAreaRight" b="textAreaBottom"/>
              <a:pathLst>
                <a:path w="24384000" h="6285738">
                  <a:moveTo>
                    <a:pt x="0" y="0"/>
                  </a:moveTo>
                  <a:lnTo>
                    <a:pt x="24384000" y="0"/>
                  </a:lnTo>
                  <a:lnTo>
                    <a:pt x="24384000" y="6285738"/>
                  </a:lnTo>
                  <a:lnTo>
                    <a:pt x="0" y="62857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9">
                <a:alphaModFix amt="13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Freeform 2"/>
          <p:cNvSpPr/>
          <p:nvPr/>
        </p:nvSpPr>
        <p:spPr>
          <a:xfrm>
            <a:off x="0" y="4241880"/>
            <a:ext cx="18287640" cy="608040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6080400"/>
              <a:gd name="textAreaBottom" fmla="*/ 6080760 h 6080400"/>
            </a:gdLst>
            <a:ahLst/>
            <a:cxnLst/>
            <a:rect l="textAreaLeft" t="textAreaTop" r="textAreaRight" b="textAreaBottom"/>
            <a:pathLst>
              <a:path w="18288000" h="6080760">
                <a:moveTo>
                  <a:pt x="0" y="0"/>
                </a:moveTo>
                <a:lnTo>
                  <a:pt x="18288000" y="0"/>
                </a:lnTo>
                <a:lnTo>
                  <a:pt x="18288000" y="6080760"/>
                </a:lnTo>
                <a:lnTo>
                  <a:pt x="0" y="60807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"/>
          <p:cNvSpPr/>
          <p:nvPr/>
        </p:nvSpPr>
        <p:spPr>
          <a:xfrm>
            <a:off x="5475960" y="1719000"/>
            <a:ext cx="7336080" cy="19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3935"/>
              </a:lnSpc>
            </a:pPr>
            <a:r>
              <a:rPr lang="en-US" sz="11610" b="1" u="none" strike="noStrike">
                <a:solidFill>
                  <a:srgbClr val="FB371E"/>
                </a:solidFill>
                <a:effectLst/>
                <a:uFillTx/>
                <a:latin typeface="Calibri (MS) Bold"/>
                <a:ea typeface="Calibri (MS) Bold"/>
              </a:rPr>
              <a:t>THANK YOU</a:t>
            </a:r>
            <a:endParaRPr lang="en-IN" sz="1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DAHCTK60Cck</dc:identifier>
  <dc:language>en-IN</dc:language>
  <cp:lastModifiedBy/>
  <dcterms:modified xsi:type="dcterms:W3CDTF">2026-04-20T11:54:47Z</dcterms:modified>
  <cp:revision>2</cp:revision>
  <dc:subject/>
  <dc:title>PPT Template 2 (1).pptx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